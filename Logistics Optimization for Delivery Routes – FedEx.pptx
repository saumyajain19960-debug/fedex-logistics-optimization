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CE46A1-E380-41EE-97E1-18ADD7FC12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64B1426-5460-48E0-921A-44010C2FD2E7}">
      <dgm:prSet/>
      <dgm:spPr/>
      <dgm:t>
        <a:bodyPr/>
        <a:lstStyle/>
        <a:p>
          <a:r>
            <a:rPr lang="en-IN" b="1"/>
            <a:t>Add List of Tables</a:t>
          </a:r>
          <a:endParaRPr lang="en-US"/>
        </a:p>
      </dgm:t>
    </dgm:pt>
    <dgm:pt modelId="{0BDE2121-6B8C-461D-AD4E-DE4A9568B850}" type="parTrans" cxnId="{A421A8D7-92BB-42FE-BB61-452D74423667}">
      <dgm:prSet/>
      <dgm:spPr/>
      <dgm:t>
        <a:bodyPr/>
        <a:lstStyle/>
        <a:p>
          <a:endParaRPr lang="en-US"/>
        </a:p>
      </dgm:t>
    </dgm:pt>
    <dgm:pt modelId="{0B9E445B-711E-4F0C-A13E-E7D2DA2E045A}" type="sibTrans" cxnId="{A421A8D7-92BB-42FE-BB61-452D74423667}">
      <dgm:prSet/>
      <dgm:spPr/>
      <dgm:t>
        <a:bodyPr/>
        <a:lstStyle/>
        <a:p>
          <a:endParaRPr lang="en-US"/>
        </a:p>
      </dgm:t>
    </dgm:pt>
    <dgm:pt modelId="{B622CAC4-BD46-4AFB-8776-0B393A1850E5}">
      <dgm:prSet/>
      <dgm:spPr/>
      <dgm:t>
        <a:bodyPr/>
        <a:lstStyle/>
        <a:p>
          <a:r>
            <a:rPr lang="en-US"/>
            <a:t>• Fedex_Orders</a:t>
          </a:r>
        </a:p>
      </dgm:t>
    </dgm:pt>
    <dgm:pt modelId="{C24C9B2B-0ED8-482D-88BD-43755A6D559F}" type="parTrans" cxnId="{94DAC7B0-5A40-4B2B-81A7-8DBE8A907F42}">
      <dgm:prSet/>
      <dgm:spPr/>
      <dgm:t>
        <a:bodyPr/>
        <a:lstStyle/>
        <a:p>
          <a:endParaRPr lang="en-US"/>
        </a:p>
      </dgm:t>
    </dgm:pt>
    <dgm:pt modelId="{82C6CAF4-9154-4C1A-B1AE-AEF96FDC0956}" type="sibTrans" cxnId="{94DAC7B0-5A40-4B2B-81A7-8DBE8A907F42}">
      <dgm:prSet/>
      <dgm:spPr/>
      <dgm:t>
        <a:bodyPr/>
        <a:lstStyle/>
        <a:p>
          <a:endParaRPr lang="en-US"/>
        </a:p>
      </dgm:t>
    </dgm:pt>
    <dgm:pt modelId="{1D8D0931-1155-4F88-8F74-FCAE09B94FEC}">
      <dgm:prSet/>
      <dgm:spPr/>
      <dgm:t>
        <a:bodyPr/>
        <a:lstStyle/>
        <a:p>
          <a:r>
            <a:rPr lang="en-US"/>
            <a:t>• Fedex_Shipments-</a:t>
          </a:r>
        </a:p>
      </dgm:t>
    </dgm:pt>
    <dgm:pt modelId="{736E24A4-ABF6-498F-928E-9FF659B2C389}" type="parTrans" cxnId="{14CD9EF0-D32B-4238-AA33-70A77A5F03E9}">
      <dgm:prSet/>
      <dgm:spPr/>
      <dgm:t>
        <a:bodyPr/>
        <a:lstStyle/>
        <a:p>
          <a:endParaRPr lang="en-US"/>
        </a:p>
      </dgm:t>
    </dgm:pt>
    <dgm:pt modelId="{9FE7C37D-35DD-456E-A397-D57BAF5C62D4}" type="sibTrans" cxnId="{14CD9EF0-D32B-4238-AA33-70A77A5F03E9}">
      <dgm:prSet/>
      <dgm:spPr/>
      <dgm:t>
        <a:bodyPr/>
        <a:lstStyle/>
        <a:p>
          <a:endParaRPr lang="en-US"/>
        </a:p>
      </dgm:t>
    </dgm:pt>
    <dgm:pt modelId="{1FB1145E-EE4D-4415-AEEC-6CDDFEAD6BA1}">
      <dgm:prSet/>
      <dgm:spPr/>
      <dgm:t>
        <a:bodyPr/>
        <a:lstStyle/>
        <a:p>
          <a:r>
            <a:rPr lang="en-US"/>
            <a:t>• Fedex_Routes</a:t>
          </a:r>
        </a:p>
      </dgm:t>
    </dgm:pt>
    <dgm:pt modelId="{5B8DAA36-F567-414D-95EA-44C4DFB2D8AA}" type="parTrans" cxnId="{C1769704-4D1F-4409-B4BD-D77E93A1B704}">
      <dgm:prSet/>
      <dgm:spPr/>
      <dgm:t>
        <a:bodyPr/>
        <a:lstStyle/>
        <a:p>
          <a:endParaRPr lang="en-US"/>
        </a:p>
      </dgm:t>
    </dgm:pt>
    <dgm:pt modelId="{46B5A8EC-BC28-4A60-9C79-FD7A2DB94E07}" type="sibTrans" cxnId="{C1769704-4D1F-4409-B4BD-D77E93A1B704}">
      <dgm:prSet/>
      <dgm:spPr/>
      <dgm:t>
        <a:bodyPr/>
        <a:lstStyle/>
        <a:p>
          <a:endParaRPr lang="en-US"/>
        </a:p>
      </dgm:t>
    </dgm:pt>
    <dgm:pt modelId="{2333FFCF-E77D-4EC0-A6A3-04A8A4972217}">
      <dgm:prSet/>
      <dgm:spPr/>
      <dgm:t>
        <a:bodyPr/>
        <a:lstStyle/>
        <a:p>
          <a:r>
            <a:rPr lang="en-US"/>
            <a:t>• Fedex_Warehouses</a:t>
          </a:r>
        </a:p>
      </dgm:t>
    </dgm:pt>
    <dgm:pt modelId="{3FB6F8E2-BC48-4495-ACB8-7DBE34AF14A2}" type="parTrans" cxnId="{24BF8B0D-AA88-4CC4-9570-BAC0743C1CC7}">
      <dgm:prSet/>
      <dgm:spPr/>
      <dgm:t>
        <a:bodyPr/>
        <a:lstStyle/>
        <a:p>
          <a:endParaRPr lang="en-US"/>
        </a:p>
      </dgm:t>
    </dgm:pt>
    <dgm:pt modelId="{C2EF35A6-67F5-425C-97AD-55D0D3C8D9B4}" type="sibTrans" cxnId="{24BF8B0D-AA88-4CC4-9570-BAC0743C1CC7}">
      <dgm:prSet/>
      <dgm:spPr/>
      <dgm:t>
        <a:bodyPr/>
        <a:lstStyle/>
        <a:p>
          <a:endParaRPr lang="en-US"/>
        </a:p>
      </dgm:t>
    </dgm:pt>
    <dgm:pt modelId="{CE4EB0B5-20DE-4B18-B83C-D1390DCA0AD9}">
      <dgm:prSet/>
      <dgm:spPr/>
      <dgm:t>
        <a:bodyPr/>
        <a:lstStyle/>
        <a:p>
          <a:r>
            <a:rPr lang="en-US"/>
            <a:t>• Fedex_Delivery_Agents</a:t>
          </a:r>
        </a:p>
      </dgm:t>
    </dgm:pt>
    <dgm:pt modelId="{E4EB2EC6-E691-48F1-91C1-5D5211AB0745}" type="parTrans" cxnId="{416414B8-1D9D-4570-8B7F-E2F2E456AE3A}">
      <dgm:prSet/>
      <dgm:spPr/>
      <dgm:t>
        <a:bodyPr/>
        <a:lstStyle/>
        <a:p>
          <a:endParaRPr lang="en-US"/>
        </a:p>
      </dgm:t>
    </dgm:pt>
    <dgm:pt modelId="{EB2C1C82-B261-4177-828F-5547209EB4D3}" type="sibTrans" cxnId="{416414B8-1D9D-4570-8B7F-E2F2E456AE3A}">
      <dgm:prSet/>
      <dgm:spPr/>
      <dgm:t>
        <a:bodyPr/>
        <a:lstStyle/>
        <a:p>
          <a:endParaRPr lang="en-US"/>
        </a:p>
      </dgm:t>
    </dgm:pt>
    <dgm:pt modelId="{598FDCCC-4E83-4C51-AD4E-FD01E6D5A963}" type="pres">
      <dgm:prSet presAssocID="{10CE46A1-E380-41EE-97E1-18ADD7FC12CA}" presName="linear" presStyleCnt="0">
        <dgm:presLayoutVars>
          <dgm:animLvl val="lvl"/>
          <dgm:resizeHandles val="exact"/>
        </dgm:presLayoutVars>
      </dgm:prSet>
      <dgm:spPr/>
    </dgm:pt>
    <dgm:pt modelId="{1926C782-1412-4070-A290-6D82AF54C22A}" type="pres">
      <dgm:prSet presAssocID="{D64B1426-5460-48E0-921A-44010C2FD2E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E107584-FEB2-4628-8DFD-265E6AFEACA4}" type="pres">
      <dgm:prSet presAssocID="{0B9E445B-711E-4F0C-A13E-E7D2DA2E045A}" presName="spacer" presStyleCnt="0"/>
      <dgm:spPr/>
    </dgm:pt>
    <dgm:pt modelId="{BB86BC64-1DAF-45AB-90ED-16163B82F5AF}" type="pres">
      <dgm:prSet presAssocID="{B622CAC4-BD46-4AFB-8776-0B393A1850E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0B2CB61-6802-48DC-9112-60B30E6450D3}" type="pres">
      <dgm:prSet presAssocID="{82C6CAF4-9154-4C1A-B1AE-AEF96FDC0956}" presName="spacer" presStyleCnt="0"/>
      <dgm:spPr/>
    </dgm:pt>
    <dgm:pt modelId="{DA8CA0DB-F156-4B1B-83BA-CC3C7049E760}" type="pres">
      <dgm:prSet presAssocID="{1D8D0931-1155-4F88-8F74-FCAE09B94FE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6FAEEC9-EDB7-477A-8F97-232FA84C425A}" type="pres">
      <dgm:prSet presAssocID="{9FE7C37D-35DD-456E-A397-D57BAF5C62D4}" presName="spacer" presStyleCnt="0"/>
      <dgm:spPr/>
    </dgm:pt>
    <dgm:pt modelId="{92A2AAEE-95A1-4476-8FB9-5D5B76694E98}" type="pres">
      <dgm:prSet presAssocID="{1FB1145E-EE4D-4415-AEEC-6CDDFEAD6BA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DCDC757-C8B8-4C0A-8819-74036AAF290A}" type="pres">
      <dgm:prSet presAssocID="{46B5A8EC-BC28-4A60-9C79-FD7A2DB94E07}" presName="spacer" presStyleCnt="0"/>
      <dgm:spPr/>
    </dgm:pt>
    <dgm:pt modelId="{BA2160B7-2556-4DDE-8DDE-8DE39D308578}" type="pres">
      <dgm:prSet presAssocID="{2333FFCF-E77D-4EC0-A6A3-04A8A497221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C889832-57BF-472B-9CDE-F8B00CD3B7EF}" type="pres">
      <dgm:prSet presAssocID="{C2EF35A6-67F5-425C-97AD-55D0D3C8D9B4}" presName="spacer" presStyleCnt="0"/>
      <dgm:spPr/>
    </dgm:pt>
    <dgm:pt modelId="{E83B9B58-70D4-4EAC-9061-18FE6F1785AA}" type="pres">
      <dgm:prSet presAssocID="{CE4EB0B5-20DE-4B18-B83C-D1390DCA0AD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1769704-4D1F-4409-B4BD-D77E93A1B704}" srcId="{10CE46A1-E380-41EE-97E1-18ADD7FC12CA}" destId="{1FB1145E-EE4D-4415-AEEC-6CDDFEAD6BA1}" srcOrd="3" destOrd="0" parTransId="{5B8DAA36-F567-414D-95EA-44C4DFB2D8AA}" sibTransId="{46B5A8EC-BC28-4A60-9C79-FD7A2DB94E07}"/>
    <dgm:cxn modelId="{24BF8B0D-AA88-4CC4-9570-BAC0743C1CC7}" srcId="{10CE46A1-E380-41EE-97E1-18ADD7FC12CA}" destId="{2333FFCF-E77D-4EC0-A6A3-04A8A4972217}" srcOrd="4" destOrd="0" parTransId="{3FB6F8E2-BC48-4495-ACB8-7DBE34AF14A2}" sibTransId="{C2EF35A6-67F5-425C-97AD-55D0D3C8D9B4}"/>
    <dgm:cxn modelId="{15E9C417-FB78-4A56-A7EE-D2B27DB81ED2}" type="presOf" srcId="{2333FFCF-E77D-4EC0-A6A3-04A8A4972217}" destId="{BA2160B7-2556-4DDE-8DDE-8DE39D308578}" srcOrd="0" destOrd="0" presId="urn:microsoft.com/office/officeart/2005/8/layout/vList2"/>
    <dgm:cxn modelId="{3398671D-5111-4B38-88FA-C9613D69CC89}" type="presOf" srcId="{10CE46A1-E380-41EE-97E1-18ADD7FC12CA}" destId="{598FDCCC-4E83-4C51-AD4E-FD01E6D5A963}" srcOrd="0" destOrd="0" presId="urn:microsoft.com/office/officeart/2005/8/layout/vList2"/>
    <dgm:cxn modelId="{587B7E76-AD48-495A-B72A-5402736D0626}" type="presOf" srcId="{1FB1145E-EE4D-4415-AEEC-6CDDFEAD6BA1}" destId="{92A2AAEE-95A1-4476-8FB9-5D5B76694E98}" srcOrd="0" destOrd="0" presId="urn:microsoft.com/office/officeart/2005/8/layout/vList2"/>
    <dgm:cxn modelId="{53D68B87-F9A4-4B26-AB54-427D6487F09D}" type="presOf" srcId="{CE4EB0B5-20DE-4B18-B83C-D1390DCA0AD9}" destId="{E83B9B58-70D4-4EAC-9061-18FE6F1785AA}" srcOrd="0" destOrd="0" presId="urn:microsoft.com/office/officeart/2005/8/layout/vList2"/>
    <dgm:cxn modelId="{FFECC0A1-BC88-4970-8542-EA39BDACBA48}" type="presOf" srcId="{1D8D0931-1155-4F88-8F74-FCAE09B94FEC}" destId="{DA8CA0DB-F156-4B1B-83BA-CC3C7049E760}" srcOrd="0" destOrd="0" presId="urn:microsoft.com/office/officeart/2005/8/layout/vList2"/>
    <dgm:cxn modelId="{99A4D7AD-62B1-40D4-BCE2-9D39F295BC4E}" type="presOf" srcId="{D64B1426-5460-48E0-921A-44010C2FD2E7}" destId="{1926C782-1412-4070-A290-6D82AF54C22A}" srcOrd="0" destOrd="0" presId="urn:microsoft.com/office/officeart/2005/8/layout/vList2"/>
    <dgm:cxn modelId="{94DAC7B0-5A40-4B2B-81A7-8DBE8A907F42}" srcId="{10CE46A1-E380-41EE-97E1-18ADD7FC12CA}" destId="{B622CAC4-BD46-4AFB-8776-0B393A1850E5}" srcOrd="1" destOrd="0" parTransId="{C24C9B2B-0ED8-482D-88BD-43755A6D559F}" sibTransId="{82C6CAF4-9154-4C1A-B1AE-AEF96FDC0956}"/>
    <dgm:cxn modelId="{416414B8-1D9D-4570-8B7F-E2F2E456AE3A}" srcId="{10CE46A1-E380-41EE-97E1-18ADD7FC12CA}" destId="{CE4EB0B5-20DE-4B18-B83C-D1390DCA0AD9}" srcOrd="5" destOrd="0" parTransId="{E4EB2EC6-E691-48F1-91C1-5D5211AB0745}" sibTransId="{EB2C1C82-B261-4177-828F-5547209EB4D3}"/>
    <dgm:cxn modelId="{268340C8-19C8-4CA7-AC49-313053280A3D}" type="presOf" srcId="{B622CAC4-BD46-4AFB-8776-0B393A1850E5}" destId="{BB86BC64-1DAF-45AB-90ED-16163B82F5AF}" srcOrd="0" destOrd="0" presId="urn:microsoft.com/office/officeart/2005/8/layout/vList2"/>
    <dgm:cxn modelId="{A421A8D7-92BB-42FE-BB61-452D74423667}" srcId="{10CE46A1-E380-41EE-97E1-18ADD7FC12CA}" destId="{D64B1426-5460-48E0-921A-44010C2FD2E7}" srcOrd="0" destOrd="0" parTransId="{0BDE2121-6B8C-461D-AD4E-DE4A9568B850}" sibTransId="{0B9E445B-711E-4F0C-A13E-E7D2DA2E045A}"/>
    <dgm:cxn modelId="{14CD9EF0-D32B-4238-AA33-70A77A5F03E9}" srcId="{10CE46A1-E380-41EE-97E1-18ADD7FC12CA}" destId="{1D8D0931-1155-4F88-8F74-FCAE09B94FEC}" srcOrd="2" destOrd="0" parTransId="{736E24A4-ABF6-498F-928E-9FF659B2C389}" sibTransId="{9FE7C37D-35DD-456E-A397-D57BAF5C62D4}"/>
    <dgm:cxn modelId="{2D198D8F-2E3B-42F6-9A39-CCF37473F925}" type="presParOf" srcId="{598FDCCC-4E83-4C51-AD4E-FD01E6D5A963}" destId="{1926C782-1412-4070-A290-6D82AF54C22A}" srcOrd="0" destOrd="0" presId="urn:microsoft.com/office/officeart/2005/8/layout/vList2"/>
    <dgm:cxn modelId="{06101A42-4216-4047-B8B1-BC12A877F6EE}" type="presParOf" srcId="{598FDCCC-4E83-4C51-AD4E-FD01E6D5A963}" destId="{1E107584-FEB2-4628-8DFD-265E6AFEACA4}" srcOrd="1" destOrd="0" presId="urn:microsoft.com/office/officeart/2005/8/layout/vList2"/>
    <dgm:cxn modelId="{A9054BDE-5542-4249-9323-90A87ABAEBF1}" type="presParOf" srcId="{598FDCCC-4E83-4C51-AD4E-FD01E6D5A963}" destId="{BB86BC64-1DAF-45AB-90ED-16163B82F5AF}" srcOrd="2" destOrd="0" presId="urn:microsoft.com/office/officeart/2005/8/layout/vList2"/>
    <dgm:cxn modelId="{9E419F72-D3C1-414C-B64F-F7070EFD64DA}" type="presParOf" srcId="{598FDCCC-4E83-4C51-AD4E-FD01E6D5A963}" destId="{F0B2CB61-6802-48DC-9112-60B30E6450D3}" srcOrd="3" destOrd="0" presId="urn:microsoft.com/office/officeart/2005/8/layout/vList2"/>
    <dgm:cxn modelId="{C517653E-55B9-40C2-BAA9-0FCC0244520A}" type="presParOf" srcId="{598FDCCC-4E83-4C51-AD4E-FD01E6D5A963}" destId="{DA8CA0DB-F156-4B1B-83BA-CC3C7049E760}" srcOrd="4" destOrd="0" presId="urn:microsoft.com/office/officeart/2005/8/layout/vList2"/>
    <dgm:cxn modelId="{7365D3E3-7D7A-4F0F-A866-857EC82FEFDA}" type="presParOf" srcId="{598FDCCC-4E83-4C51-AD4E-FD01E6D5A963}" destId="{A6FAEEC9-EDB7-477A-8F97-232FA84C425A}" srcOrd="5" destOrd="0" presId="urn:microsoft.com/office/officeart/2005/8/layout/vList2"/>
    <dgm:cxn modelId="{23DCCA87-D41D-49F2-87D8-5AC685B83988}" type="presParOf" srcId="{598FDCCC-4E83-4C51-AD4E-FD01E6D5A963}" destId="{92A2AAEE-95A1-4476-8FB9-5D5B76694E98}" srcOrd="6" destOrd="0" presId="urn:microsoft.com/office/officeart/2005/8/layout/vList2"/>
    <dgm:cxn modelId="{184A4502-4390-4C74-98B8-DBAACEDBBFC8}" type="presParOf" srcId="{598FDCCC-4E83-4C51-AD4E-FD01E6D5A963}" destId="{2DCDC757-C8B8-4C0A-8819-74036AAF290A}" srcOrd="7" destOrd="0" presId="urn:microsoft.com/office/officeart/2005/8/layout/vList2"/>
    <dgm:cxn modelId="{61254BA9-0747-4C0C-B7F8-A6036122440A}" type="presParOf" srcId="{598FDCCC-4E83-4C51-AD4E-FD01E6D5A963}" destId="{BA2160B7-2556-4DDE-8DDE-8DE39D308578}" srcOrd="8" destOrd="0" presId="urn:microsoft.com/office/officeart/2005/8/layout/vList2"/>
    <dgm:cxn modelId="{D2BAF07D-8529-4A73-BA17-3C069C3F1424}" type="presParOf" srcId="{598FDCCC-4E83-4C51-AD4E-FD01E6D5A963}" destId="{EC889832-57BF-472B-9CDE-F8B00CD3B7EF}" srcOrd="9" destOrd="0" presId="urn:microsoft.com/office/officeart/2005/8/layout/vList2"/>
    <dgm:cxn modelId="{AAEB29B4-38E0-43F1-A7AE-E7EC5F3E865D}" type="presParOf" srcId="{598FDCCC-4E83-4C51-AD4E-FD01E6D5A963}" destId="{E83B9B58-70D4-4EAC-9061-18FE6F1785A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26C782-1412-4070-A290-6D82AF54C22A}">
      <dsp:nvSpPr>
        <dsp:cNvPr id="0" name=""/>
        <dsp:cNvSpPr/>
      </dsp:nvSpPr>
      <dsp:spPr>
        <a:xfrm>
          <a:off x="0" y="72008"/>
          <a:ext cx="5181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Add List of Tables</a:t>
          </a:r>
          <a:endParaRPr lang="en-US" sz="2600" kern="1200"/>
        </a:p>
      </dsp:txBody>
      <dsp:txXfrm>
        <a:off x="31185" y="103193"/>
        <a:ext cx="5119230" cy="576450"/>
      </dsp:txXfrm>
    </dsp:sp>
    <dsp:sp modelId="{BB86BC64-1DAF-45AB-90ED-16163B82F5AF}">
      <dsp:nvSpPr>
        <dsp:cNvPr id="0" name=""/>
        <dsp:cNvSpPr/>
      </dsp:nvSpPr>
      <dsp:spPr>
        <a:xfrm>
          <a:off x="0" y="785709"/>
          <a:ext cx="5181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Fedex_Orders</a:t>
          </a:r>
        </a:p>
      </dsp:txBody>
      <dsp:txXfrm>
        <a:off x="31185" y="816894"/>
        <a:ext cx="5119230" cy="576450"/>
      </dsp:txXfrm>
    </dsp:sp>
    <dsp:sp modelId="{DA8CA0DB-F156-4B1B-83BA-CC3C7049E760}">
      <dsp:nvSpPr>
        <dsp:cNvPr id="0" name=""/>
        <dsp:cNvSpPr/>
      </dsp:nvSpPr>
      <dsp:spPr>
        <a:xfrm>
          <a:off x="0" y="1499409"/>
          <a:ext cx="5181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Fedex_Shipments-</a:t>
          </a:r>
        </a:p>
      </dsp:txBody>
      <dsp:txXfrm>
        <a:off x="31185" y="1530594"/>
        <a:ext cx="5119230" cy="576450"/>
      </dsp:txXfrm>
    </dsp:sp>
    <dsp:sp modelId="{92A2AAEE-95A1-4476-8FB9-5D5B76694E98}">
      <dsp:nvSpPr>
        <dsp:cNvPr id="0" name=""/>
        <dsp:cNvSpPr/>
      </dsp:nvSpPr>
      <dsp:spPr>
        <a:xfrm>
          <a:off x="0" y="2213109"/>
          <a:ext cx="5181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Fedex_Routes</a:t>
          </a:r>
        </a:p>
      </dsp:txBody>
      <dsp:txXfrm>
        <a:off x="31185" y="2244294"/>
        <a:ext cx="5119230" cy="576450"/>
      </dsp:txXfrm>
    </dsp:sp>
    <dsp:sp modelId="{BA2160B7-2556-4DDE-8DDE-8DE39D308578}">
      <dsp:nvSpPr>
        <dsp:cNvPr id="0" name=""/>
        <dsp:cNvSpPr/>
      </dsp:nvSpPr>
      <dsp:spPr>
        <a:xfrm>
          <a:off x="0" y="2926809"/>
          <a:ext cx="5181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Fedex_Warehouses</a:t>
          </a:r>
        </a:p>
      </dsp:txBody>
      <dsp:txXfrm>
        <a:off x="31185" y="2957994"/>
        <a:ext cx="5119230" cy="576450"/>
      </dsp:txXfrm>
    </dsp:sp>
    <dsp:sp modelId="{E83B9B58-70D4-4EAC-9061-18FE6F1785AA}">
      <dsp:nvSpPr>
        <dsp:cNvPr id="0" name=""/>
        <dsp:cNvSpPr/>
      </dsp:nvSpPr>
      <dsp:spPr>
        <a:xfrm>
          <a:off x="0" y="3640509"/>
          <a:ext cx="5181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Fedex_Delivery_Agents</a:t>
          </a:r>
        </a:p>
      </dsp:txBody>
      <dsp:txXfrm>
        <a:off x="31185" y="3671694"/>
        <a:ext cx="5119230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9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24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4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35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7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1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6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97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3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7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oxes on a conveyor belt&#10;&#10;AI-generated content may be incorrect.">
            <a:extLst>
              <a:ext uri="{FF2B5EF4-FFF2-40B4-BE49-F238E27FC236}">
                <a16:creationId xmlns:a16="http://schemas.microsoft.com/office/drawing/2014/main" id="{4342053F-B56F-A109-ED3A-28205FBBFA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D3B31C-D184-B587-20AD-A2AD2D709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rgbClr val="FFFFFF"/>
                </a:solidFill>
                <a:highlight>
                  <a:srgbClr val="000000"/>
                </a:highlight>
              </a:rPr>
              <a:t>“Logistics Optimization for Delivery Routes – FedEx”</a:t>
            </a:r>
            <a:endParaRPr lang="en-IN" sz="50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BAAD9-52FD-6C20-21FD-073FCF6AE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2000">
                <a:solidFill>
                  <a:srgbClr val="FFFFFF"/>
                </a:solidFill>
                <a:highlight>
                  <a:srgbClr val="000000"/>
                </a:highlight>
              </a:rPr>
              <a:t>SQL-based Analytics &amp; Optimization</a:t>
            </a:r>
          </a:p>
          <a:p>
            <a:pPr>
              <a:lnSpc>
                <a:spcPct val="110000"/>
              </a:lnSpc>
            </a:pPr>
            <a:endParaRPr lang="en-IN" sz="200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lang="en-IN" sz="2000">
                <a:solidFill>
                  <a:srgbClr val="FFFFFF"/>
                </a:solidFill>
                <a:highlight>
                  <a:srgbClr val="000000"/>
                </a:highlight>
              </a:rPr>
              <a:t>Presented By “Saumya Jain”</a:t>
            </a:r>
          </a:p>
          <a:p>
            <a:pPr>
              <a:lnSpc>
                <a:spcPct val="110000"/>
              </a:lnSpc>
            </a:pPr>
            <a:endParaRPr lang="en-IN" sz="200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endParaRPr lang="en-IN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649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AC769-3C3A-5B42-FEAA-F25CDB9E6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802" y="603504"/>
            <a:ext cx="5577902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Objective &amp; Scope</a:t>
            </a:r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86D0EC83-BCC5-B03B-C1A9-F7535D9A5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1102440"/>
            <a:ext cx="4681506" cy="468150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4195AEA-24F4-DB95-07CE-8D897CB21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6802" y="2212848"/>
            <a:ext cx="5577902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/>
              <a:t>Analyze FedEx delivery performance using SQL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/>
              <a:t>Clean and prepare shipment, route, warehouse, and agent data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/>
              <a:t>Identify delays by route, warehouse, and agent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/>
              <a:t>Build KPIs to measure efficiency and on-time delivery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2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FE3AE-2102-D8A1-4A64-3287FF3CD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/>
              <a:t>Data &amp; Schema Overview</a:t>
            </a:r>
            <a:br>
              <a:rPr lang="en-IN"/>
            </a:br>
            <a:r>
              <a:rPr lang="en-IN"/>
              <a:t>Video Link: https://reccloud.com/u/ylzwasb</a:t>
            </a:r>
            <a:br>
              <a:rPr lang="en-IN"/>
            </a:br>
            <a:endParaRPr lang="en-IN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72928BF-72C9-F052-5227-1494B1BFE34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12648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69AB7-B713-2637-1364-2FD87FFA4E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/>
              <a:t>Steps Follow</a:t>
            </a:r>
          </a:p>
          <a:p>
            <a:pPr marL="457200" indent="-457200">
              <a:buAutoNum type="arabicPeriod"/>
            </a:pPr>
            <a:r>
              <a:rPr lang="en-IN"/>
              <a:t>Go to My SQL Workbench</a:t>
            </a:r>
          </a:p>
          <a:p>
            <a:pPr marL="457200" indent="-457200">
              <a:buAutoNum type="arabicPeriod"/>
            </a:pPr>
            <a:r>
              <a:rPr lang="en-IN"/>
              <a:t>Right Click and create schema Name Fedex Logistic</a:t>
            </a:r>
          </a:p>
          <a:p>
            <a:pPr marL="457200" indent="-457200">
              <a:buAutoNum type="arabicPeriod"/>
            </a:pPr>
            <a:r>
              <a:rPr lang="en-IN"/>
              <a:t>Import all the database into click table data import Wizard</a:t>
            </a:r>
          </a:p>
          <a:p>
            <a:pPr marL="0" indent="0">
              <a:buNone/>
            </a:pP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14A408-67C3-106F-9611-CD08AE6074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7830" y="4665766"/>
            <a:ext cx="2945717" cy="176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22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C8D8E-5456-136B-CD52-DD59987FFB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4793" y="548639"/>
            <a:ext cx="3252866" cy="22245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1: Data Cleaning &amp; Preparation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92AD5-5553-6450-A3F5-1713F821D2F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762531" y="548638"/>
            <a:ext cx="7814791" cy="6181945"/>
          </a:xfrm>
          <a:noFill/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1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USE </a:t>
            </a:r>
            <a:r>
              <a:rPr lang="en-US" sz="1400" err="1"/>
              <a:t>fedex_logistics;SELECT</a:t>
            </a:r>
            <a:r>
              <a:rPr lang="en-US" sz="1400"/>
              <a:t> *FROM </a:t>
            </a:r>
            <a:r>
              <a:rPr lang="en-US" sz="1400" err="1"/>
              <a:t>fedex_orders;SELECT</a:t>
            </a:r>
            <a:r>
              <a:rPr lang="en-US" sz="1400"/>
              <a:t> </a:t>
            </a:r>
            <a:r>
              <a:rPr lang="en-US" sz="1400" err="1"/>
              <a:t>Order_ID</a:t>
            </a:r>
            <a:r>
              <a:rPr lang="en-US" sz="1400"/>
              <a:t>, COUNT(*) AS </a:t>
            </a:r>
            <a:r>
              <a:rPr lang="en-US" sz="1400" err="1"/>
              <a:t>cntFROM</a:t>
            </a:r>
            <a:r>
              <a:rPr lang="en-US" sz="1400"/>
              <a:t> </a:t>
            </a:r>
            <a:r>
              <a:rPr lang="en-US" sz="1400" err="1"/>
              <a:t>fedex_ordersGROUP</a:t>
            </a:r>
            <a:r>
              <a:rPr lang="en-US" sz="1400"/>
              <a:t> BY </a:t>
            </a:r>
            <a:r>
              <a:rPr lang="en-US" sz="1400" err="1"/>
              <a:t>Order_IDHAVING</a:t>
            </a:r>
            <a:r>
              <a:rPr lang="en-US" sz="1400"/>
              <a:t> COUNT(*) &gt; 1;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* from </a:t>
            </a:r>
            <a:r>
              <a:rPr lang="en-US" sz="1400" err="1"/>
              <a:t>fedex_shipmentsSELECT</a:t>
            </a:r>
            <a:r>
              <a:rPr lang="en-US" sz="1400"/>
              <a:t> </a:t>
            </a:r>
            <a:r>
              <a:rPr lang="en-US" sz="1400" err="1"/>
              <a:t>Shipment_ID</a:t>
            </a:r>
            <a:r>
              <a:rPr lang="en-US" sz="1400"/>
              <a:t>, COUNT(*) AS </a:t>
            </a:r>
            <a:r>
              <a:rPr lang="en-US" sz="1400" err="1"/>
              <a:t>cntFROM</a:t>
            </a:r>
            <a:r>
              <a:rPr lang="en-US" sz="1400"/>
              <a:t> </a:t>
            </a:r>
            <a:r>
              <a:rPr lang="en-US" sz="1400" err="1"/>
              <a:t>fedex_shipmentsGROUP</a:t>
            </a:r>
            <a:r>
              <a:rPr lang="en-US" sz="1400"/>
              <a:t> BY </a:t>
            </a:r>
            <a:r>
              <a:rPr lang="en-US" sz="1400" err="1"/>
              <a:t>Shipment_IDHAVING</a:t>
            </a:r>
            <a:r>
              <a:rPr lang="en-US" sz="1400"/>
              <a:t> COUNT(*) &gt; 1;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2 Query Used:     NULL </a:t>
            </a:r>
            <a:r>
              <a:rPr lang="en-US" sz="1400" b="1" err="1"/>
              <a:t>Delay_Hours</a:t>
            </a: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COUNT(*) AS </a:t>
            </a:r>
            <a:r>
              <a:rPr lang="en-US" sz="1400" err="1"/>
              <a:t>Null_DelaysFROM</a:t>
            </a:r>
            <a:r>
              <a:rPr lang="en-US" sz="1400"/>
              <a:t> </a:t>
            </a:r>
            <a:r>
              <a:rPr lang="en-US" sz="1400" err="1"/>
              <a:t>fedex_shipmentsWHERE</a:t>
            </a:r>
            <a:r>
              <a:rPr lang="en-US" sz="1400"/>
              <a:t> </a:t>
            </a:r>
            <a:r>
              <a:rPr lang="en-US" sz="1400" err="1"/>
              <a:t>Delay_Hours</a:t>
            </a:r>
            <a:r>
              <a:rPr lang="en-US" sz="1400"/>
              <a:t> IS NULL;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Average delay per </a:t>
            </a:r>
            <a:r>
              <a:rPr lang="en-US" sz="1400" err="1"/>
              <a:t>Route_ID</a:t>
            </a:r>
            <a:endParaRPr lang="en-US" sz="1400"/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</a:t>
            </a:r>
            <a:r>
              <a:rPr lang="en-US" sz="1400" err="1"/>
              <a:t>Route_ID</a:t>
            </a:r>
            <a:r>
              <a:rPr lang="en-US" sz="1400"/>
              <a:t>, AVG(</a:t>
            </a:r>
            <a:r>
              <a:rPr lang="en-US" sz="1400" err="1"/>
              <a:t>Delay_Hours</a:t>
            </a:r>
            <a:r>
              <a:rPr lang="en-US" sz="1400"/>
              <a:t>) AS </a:t>
            </a:r>
            <a:r>
              <a:rPr lang="en-US" sz="1400" err="1"/>
              <a:t>Avg_DelayFROM</a:t>
            </a:r>
            <a:r>
              <a:rPr lang="en-US" sz="1400"/>
              <a:t> </a:t>
            </a:r>
            <a:r>
              <a:rPr lang="en-US" sz="1400" err="1"/>
              <a:t>fedex_shipmentsWHERE</a:t>
            </a:r>
            <a:r>
              <a:rPr lang="en-US" sz="1400"/>
              <a:t> </a:t>
            </a:r>
            <a:r>
              <a:rPr lang="en-US" sz="1400" err="1"/>
              <a:t>Delay_Hours</a:t>
            </a:r>
            <a:r>
              <a:rPr lang="en-US" sz="1400"/>
              <a:t> IS NOT NULLGROUP BY </a:t>
            </a:r>
            <a:r>
              <a:rPr lang="en-US" sz="1400" err="1"/>
              <a:t>Route_ID</a:t>
            </a:r>
            <a:r>
              <a:rPr lang="en-US" sz="1400"/>
              <a:t>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3 Query Used: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*FROM </a:t>
            </a:r>
            <a:r>
              <a:rPr lang="en-US" sz="1400" err="1"/>
              <a:t>fedex_orders;ALTER</a:t>
            </a:r>
            <a:r>
              <a:rPr lang="en-US" sz="1400"/>
              <a:t> TABLE </a:t>
            </a:r>
            <a:r>
              <a:rPr lang="en-US" sz="1400" err="1"/>
              <a:t>fedex_ordersADD</a:t>
            </a:r>
            <a:r>
              <a:rPr lang="en-US" sz="1400"/>
              <a:t> COLUMN </a:t>
            </a:r>
            <a:r>
              <a:rPr lang="en-US" sz="1400" err="1"/>
              <a:t>Order_DateOnly</a:t>
            </a:r>
            <a:r>
              <a:rPr lang="en-US" sz="1400"/>
              <a:t> DATE,ADD COLUMN </a:t>
            </a:r>
            <a:r>
              <a:rPr lang="en-US" sz="1400" err="1"/>
              <a:t>Order_TimeOnly</a:t>
            </a:r>
            <a:r>
              <a:rPr lang="en-US" sz="1400"/>
              <a:t> TIME;UPDATE </a:t>
            </a:r>
            <a:r>
              <a:rPr lang="en-US" sz="1400" err="1"/>
              <a:t>fedex_ordersSET</a:t>
            </a:r>
            <a:r>
              <a:rPr lang="en-US" sz="1400"/>
              <a:t>     </a:t>
            </a:r>
            <a:r>
              <a:rPr lang="en-US" sz="1400" err="1"/>
              <a:t>Order_DateOnly</a:t>
            </a:r>
            <a:r>
              <a:rPr lang="en-US" sz="1400"/>
              <a:t> = DATE(</a:t>
            </a:r>
            <a:r>
              <a:rPr lang="en-US" sz="1400" err="1"/>
              <a:t>Order_Date</a:t>
            </a:r>
            <a:r>
              <a:rPr lang="en-US" sz="1400"/>
              <a:t>),    </a:t>
            </a:r>
            <a:r>
              <a:rPr lang="en-US" sz="1400" err="1"/>
              <a:t>Order_TimeOnly</a:t>
            </a:r>
            <a:r>
              <a:rPr lang="en-US" sz="1400"/>
              <a:t> = DATE_FORMAT(</a:t>
            </a:r>
            <a:r>
              <a:rPr lang="en-US" sz="1400" err="1"/>
              <a:t>Order_Date</a:t>
            </a:r>
            <a:r>
              <a:rPr lang="en-US" sz="1400"/>
              <a:t>, '%H:%</a:t>
            </a:r>
            <a:r>
              <a:rPr lang="en-US" sz="1400" err="1"/>
              <a:t>i</a:t>
            </a:r>
            <a:r>
              <a:rPr lang="en-US" sz="1400"/>
              <a:t>:%s’);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* from </a:t>
            </a:r>
            <a:r>
              <a:rPr lang="en-US" sz="1400" err="1"/>
              <a:t>fedex_shipmentsALTER</a:t>
            </a:r>
            <a:r>
              <a:rPr lang="en-US" sz="1400"/>
              <a:t> TABLE </a:t>
            </a:r>
            <a:r>
              <a:rPr lang="en-US" sz="1400" err="1"/>
              <a:t>fedex_shipmentsADD</a:t>
            </a:r>
            <a:r>
              <a:rPr lang="en-US" sz="1400"/>
              <a:t> COLUMN </a:t>
            </a:r>
            <a:r>
              <a:rPr lang="en-US" sz="1400" err="1"/>
              <a:t>Pickup_DateOnly</a:t>
            </a:r>
            <a:r>
              <a:rPr lang="en-US" sz="1400"/>
              <a:t> DATE,ADD COLUMN </a:t>
            </a:r>
            <a:r>
              <a:rPr lang="en-US" sz="1400" err="1"/>
              <a:t>Pickup_TimeOnly</a:t>
            </a:r>
            <a:r>
              <a:rPr lang="en-US" sz="1400"/>
              <a:t> TIME,ADD COLUMN </a:t>
            </a:r>
            <a:r>
              <a:rPr lang="en-US" sz="1400" err="1"/>
              <a:t>Delivery_DateOnly</a:t>
            </a:r>
            <a:r>
              <a:rPr lang="en-US" sz="1400"/>
              <a:t> DATE,ADD COLUMN </a:t>
            </a:r>
            <a:r>
              <a:rPr lang="en-US" sz="1400" err="1"/>
              <a:t>Delivery_TimeOnly</a:t>
            </a:r>
            <a:r>
              <a:rPr lang="en-US" sz="1400"/>
              <a:t> TIME;UPDATE </a:t>
            </a:r>
            <a:r>
              <a:rPr lang="en-US" sz="1400" err="1"/>
              <a:t>fedex_shipmentsSET</a:t>
            </a:r>
            <a:r>
              <a:rPr lang="en-US" sz="1400"/>
              <a:t>     </a:t>
            </a:r>
            <a:r>
              <a:rPr lang="en-US" sz="1400" err="1"/>
              <a:t>Pickup_DateOnly</a:t>
            </a:r>
            <a:r>
              <a:rPr lang="en-US" sz="1400"/>
              <a:t> = DATE(</a:t>
            </a:r>
            <a:r>
              <a:rPr lang="en-US" sz="1400" err="1"/>
              <a:t>Pickup_Date</a:t>
            </a:r>
            <a:r>
              <a:rPr lang="en-US" sz="1400"/>
              <a:t>),    </a:t>
            </a:r>
            <a:r>
              <a:rPr lang="en-US" sz="1400" err="1"/>
              <a:t>Pickup_TimeOnly</a:t>
            </a:r>
            <a:r>
              <a:rPr lang="en-US" sz="1400"/>
              <a:t> = DATE_FORMAT(</a:t>
            </a:r>
            <a:r>
              <a:rPr lang="en-US" sz="1400" err="1"/>
              <a:t>Pickup_Date</a:t>
            </a:r>
            <a:r>
              <a:rPr lang="en-US" sz="1400"/>
              <a:t>, '%H:%</a:t>
            </a:r>
            <a:r>
              <a:rPr lang="en-US" sz="1400" err="1"/>
              <a:t>i</a:t>
            </a:r>
            <a:r>
              <a:rPr lang="en-US" sz="1400"/>
              <a:t>:%s'),    </a:t>
            </a:r>
            <a:r>
              <a:rPr lang="en-US" sz="1400" err="1"/>
              <a:t>Delivery_DateOnly</a:t>
            </a:r>
            <a:r>
              <a:rPr lang="en-US" sz="1400"/>
              <a:t> = DATE(</a:t>
            </a:r>
            <a:r>
              <a:rPr lang="en-US" sz="1400" err="1"/>
              <a:t>Delivery_Date</a:t>
            </a:r>
            <a:r>
              <a:rPr lang="en-US" sz="1400"/>
              <a:t>),    </a:t>
            </a:r>
            <a:r>
              <a:rPr lang="en-US" sz="1400" err="1"/>
              <a:t>Delivery_TimeOnly</a:t>
            </a:r>
            <a:r>
              <a:rPr lang="en-US" sz="1400"/>
              <a:t> = DATE_FORMAT(</a:t>
            </a:r>
            <a:r>
              <a:rPr lang="en-US" sz="1400" err="1"/>
              <a:t>Delivery_Date</a:t>
            </a:r>
            <a:r>
              <a:rPr lang="en-US" sz="1400"/>
              <a:t>, '%H:%</a:t>
            </a:r>
            <a:r>
              <a:rPr lang="en-US" sz="1400" err="1"/>
              <a:t>i</a:t>
            </a:r>
            <a:r>
              <a:rPr lang="en-US" sz="1400"/>
              <a:t>:%s');</a:t>
            </a:r>
          </a:p>
          <a:p>
            <a:pPr marL="457200">
              <a:lnSpc>
                <a:spcPct val="110000"/>
              </a:lnSpc>
            </a:pPr>
            <a:endParaRPr lang="en-US" sz="1200"/>
          </a:p>
          <a:p>
            <a:pPr marL="457200">
              <a:lnSpc>
                <a:spcPct val="110000"/>
              </a:lnSpc>
            </a:pPr>
            <a:endParaRPr lang="en-US" sz="1200"/>
          </a:p>
          <a:p>
            <a:pPr marL="0">
              <a:lnSpc>
                <a:spcPct val="110000"/>
              </a:lnSpc>
            </a:pPr>
            <a:endParaRPr lang="en-US" sz="1200"/>
          </a:p>
          <a:p>
            <a:pPr marL="0">
              <a:lnSpc>
                <a:spcPct val="110000"/>
              </a:lnSpc>
            </a:pPr>
            <a:endParaRPr lang="en-US" sz="12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19E50B-2834-B602-5BBE-7C8C39530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329" y="1873771"/>
            <a:ext cx="1914792" cy="6145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77EDAB-0006-4C58-0856-349ADA7DA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828" y="3994878"/>
            <a:ext cx="1771897" cy="6145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AA9836-4C7F-570C-CE7D-F9C6505D5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093" y="3813501"/>
            <a:ext cx="3389163" cy="98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6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CF65D-F0F1-3186-0A98-0439F91E6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6633102-BF4F-9909-1ACB-1F2D7A5A7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085F0-485D-1E52-17F6-A0F932E077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4793" y="548639"/>
            <a:ext cx="3252866" cy="22245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1: Data Cleaning &amp; Preparation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66604-FB8D-F976-635E-86478BAA878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342807" y="548639"/>
            <a:ext cx="8279485" cy="646675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3: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4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/>
              <a:t>Select * from fedex_shipmentsALTER TABLE fedex_shipmentsADD COLUMN Is_Date_Error TINYINT(1) DEFAULT 0;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/>
              <a:t>UPDATE fedex_shipmentsSET Is_Date_Error = 1WHERE Delivery_Date &lt; Pickup_Date;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/>
              <a:t>SELECT Shipment_ID, Pickup_Date, Delivery_DateFROM fedex_shipmentsWHERE Delivery_Date &lt; Pickup_Date;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>
              <a:lnSpc>
                <a:spcPct val="110000"/>
              </a:lnSpc>
            </a:pPr>
            <a:endParaRPr lang="en-US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BA9EF-8265-2065-50AC-859B09FD5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972" y="548639"/>
            <a:ext cx="6468378" cy="14791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62CF27-E95D-16BF-75CA-FB10118D5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72" y="2030127"/>
            <a:ext cx="6468378" cy="14861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1AFAA6-DAA2-D129-1A08-8C9D34854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221" y="5429051"/>
            <a:ext cx="6342050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9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A6E0E-E6BE-140A-779E-11E680A28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3DDE844-BEC3-3BE5-8644-C628E8FB8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2F0F6-6AA4-5096-70A9-D040A688E90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4793" y="548639"/>
            <a:ext cx="3252866" cy="22245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1: Data Cleaning &amp; Preparation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C548D-AAFF-93A9-F5A3-9CD18A6C9C4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762531" y="548638"/>
            <a:ext cx="7814791" cy="619693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Point 5 Query Used: Referential Relationship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1. Orders missing Route_ID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o.Order_ID, o.Route_IDFROM fedex_orders oLEFT JOIN fedex_routes r    ON o.Route_ID = r.Route_IDWHERE r.Route_ID IS NULL;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Find orders whose Route_ID does not exist in fedex_routes table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2. Orders missing Warehouse_ID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o.Order_ID, o.Warehouse_IDFROM fedex_orders oLEFT JOIN fedex_warehouses w    ON o.Warehouse_ID = w.Warehouse_IDWHERE w.Warehouse_ID IS NULL;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Find orders assigned to a warehouse that doesn’t exist.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6CA9BE-2D2A-DB67-F263-8EBA8F73D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800" y="2496917"/>
            <a:ext cx="1914792" cy="552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E57391-2837-C6C1-56DD-B87C94353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063" y="5132603"/>
            <a:ext cx="1819529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25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BF6E7-8CE8-099D-CBDE-97561C66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4EE95C-42AA-8F7D-F339-8EA69DACD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D238A-CF17-239C-E8CD-DC0E64ACADB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4793" y="548639"/>
            <a:ext cx="3252866" cy="22245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Task 1: Data Cleaning &amp; Preparation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82465-CC2E-0EE0-83FB-BB06178DFC0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822491" y="548639"/>
            <a:ext cx="7814791" cy="549239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3. Shipments missing Order_ID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s.Shipment_ID, s.Order_IDFROM fedex_shipments sLEFT JOIN fedex_orders o    ON s.Order_ID = o.Order_IDWHERE o.Order_ID IS NULL;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Shows shipments that reference </a:t>
            </a:r>
            <a:r>
              <a:rPr lang="en-US" sz="1200" b="1"/>
              <a:t>non-existent orders</a:t>
            </a: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4. Shipments missing Route_ID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s.Shipment_ID, s.Order_IDFROM fedex_shipments sLEFT JOIN fedex_orders o    ON s.Order_ID = o.Order_IDWHERE o.Order_ID IS NULL;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Find shipments assigned to agents </a:t>
            </a:r>
            <a:r>
              <a:rPr lang="en-US" sz="1200" b="1"/>
              <a:t>not in the agents table</a:t>
            </a:r>
            <a:r>
              <a:rPr lang="en-US" sz="1200"/>
              <a:t>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5. Shipments missing Warehouse_ID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s.Shipment_ID, s.Warehouse_IDFROM fedex_shipments sLEFT JOIN fedex_warehouses w    ON s.Warehouse_ID = w.Warehouse_IDWHERE w.Warehouse_ID IS NULL;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>
              <a:lnSpc>
                <a:spcPct val="110000"/>
              </a:lnSpc>
            </a:pPr>
            <a:endParaRPr lang="en-US" sz="11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F7BDD3-E3D3-BF48-6183-DADE3784A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8" y="1845838"/>
            <a:ext cx="2029108" cy="409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114857-3396-E99B-9897-CBE4C1664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778" y="5436114"/>
            <a:ext cx="1667108" cy="390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C84DBC-F92D-7AF6-C157-3157CF5B8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78" y="3738621"/>
            <a:ext cx="202910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6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D9CE9-F38E-881D-1098-F56BB099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348919D-EA42-E02A-871E-82747C1F6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34769-FF99-779E-6DC6-C44A0A3173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4793" y="548639"/>
            <a:ext cx="3252866" cy="22245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1: Data Cleaning &amp; Preparation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22D88-B46E-C86B-811E-CD57CD7E901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762531" y="548639"/>
            <a:ext cx="7814791" cy="549239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>
              <a:lnSpc>
                <a:spcPct val="110000"/>
              </a:lnSpc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B45473-6962-4299-8505-CE0D0602AE60}"/>
              </a:ext>
            </a:extLst>
          </p:cNvPr>
          <p:cNvSpPr txBox="1"/>
          <p:nvPr/>
        </p:nvSpPr>
        <p:spPr>
          <a:xfrm>
            <a:off x="4152275" y="503669"/>
            <a:ext cx="6505731" cy="1500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b="1"/>
              <a:t>6. Shipments missing Agent_ID</a:t>
            </a:r>
          </a:p>
          <a:p>
            <a:pPr>
              <a:lnSpc>
                <a:spcPct val="110000"/>
              </a:lnSpc>
            </a:pPr>
            <a:r>
              <a:rPr lang="en-US" sz="1200"/>
              <a:t>SELECT s.Shipment_ID, s.Agent_IDFROM fedex_shipments sLEFT JOIN fedex_delivery_agents a    ON s.Agent_ID = a.Agent_IDWHERE a.Agent_ID IS NULL;</a:t>
            </a:r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endParaRPr lang="en-US" sz="12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0E8C43D-BDD0-451A-7D0C-B41C42BE4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081" y="1440940"/>
            <a:ext cx="2391109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04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3D6A0-451E-0122-E12D-7DA91A5D8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1C0D-444A-E1FD-B8F7-CD41861B5D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</a:t>
            </a:r>
            <a:r>
              <a:rPr lang="en-US"/>
              <a:t>2</a:t>
            </a: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/>
              <a:t>Delivery Delay Analysis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EFBCF-DE27-5C07-F68B-07FF2A940B2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845712" y="549275"/>
            <a:ext cx="8741685" cy="630872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>
              <a:lnSpc>
                <a:spcPct val="110000"/>
              </a:lnSpc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      </a:t>
            </a:r>
            <a:r>
              <a:rPr lang="en-US" sz="1200" b="1"/>
              <a:t>Point 2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       Top 10 delayed routes (based on average delay hours)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Route_ID,AVG(Delay_Hours) AS Avg_Delay_Hours,COUNT(*) AS Shipment_CountFROM fedex_shipmentsGROUP BY Route_IDORDER BY Avg_Delay_Hours DESCLIMIT 10;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6D160-4594-8CA9-F73B-1EFBD6B390E0}"/>
              </a:ext>
            </a:extLst>
          </p:cNvPr>
          <p:cNvSpPr txBox="1"/>
          <p:nvPr/>
        </p:nvSpPr>
        <p:spPr>
          <a:xfrm>
            <a:off x="3252788" y="798824"/>
            <a:ext cx="6093500" cy="21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Point 1 Query Used: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>
              <a:lnSpc>
                <a:spcPct val="110000"/>
              </a:lnSpc>
            </a:pPr>
            <a:r>
              <a:rPr lang="en-US" sz="1200" b="1"/>
              <a:t>Calculate delivery delay (in hours) for each shipment</a:t>
            </a:r>
          </a:p>
          <a:p>
            <a:pPr>
              <a:lnSpc>
                <a:spcPct val="110000"/>
              </a:lnSpc>
            </a:pPr>
            <a:endParaRPr lang="en-US" sz="1200" b="1"/>
          </a:p>
          <a:p>
            <a:pPr>
              <a:lnSpc>
                <a:spcPct val="110000"/>
              </a:lnSpc>
            </a:pPr>
            <a:r>
              <a:rPr lang="en-US" sz="1200"/>
              <a:t>Select * from fedex_shipmentsALTER TABLE fedex_shipmentsADD COLUMN Delivery_Delay_Hours INT;UPDATE fedex_shipmentsSET Delivery_Delay_Hours = TIMESTAMPDIFF(HOUR, Pickup_Date, Delivery_Date);</a:t>
            </a:r>
          </a:p>
          <a:p>
            <a:pPr>
              <a:lnSpc>
                <a:spcPct val="110000"/>
              </a:lnSpc>
            </a:pPr>
            <a:endParaRPr lang="en-US" b="1"/>
          </a:p>
          <a:p>
            <a:pPr>
              <a:lnSpc>
                <a:spcPct val="110000"/>
              </a:lnSpc>
            </a:pPr>
            <a:endParaRPr lang="en-US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468762-610C-9C12-43A7-EDF372A52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8" y="2540012"/>
            <a:ext cx="7602011" cy="14098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DDDB49-C31F-C21F-C819-C34B0E92C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077" y="5368517"/>
            <a:ext cx="5925432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93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C5ACD-9977-1324-0ABF-CE5A7332E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9783-4CFC-6888-635B-E90D6885488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</a:t>
            </a:r>
            <a:r>
              <a:rPr lang="en-US"/>
              <a:t>2</a:t>
            </a: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/>
              <a:t>Delivery Delay Analysis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26517-FCC9-E00E-3D97-AA30EA6D1B0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88564" y="549275"/>
            <a:ext cx="9398833" cy="630872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>
              <a:lnSpc>
                <a:spcPct val="110000"/>
              </a:lnSpc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8F95A-51CB-06CE-341C-7A31A70AAA9E}"/>
              </a:ext>
            </a:extLst>
          </p:cNvPr>
          <p:cNvSpPr txBox="1"/>
          <p:nvPr/>
        </p:nvSpPr>
        <p:spPr>
          <a:xfrm>
            <a:off x="2443397" y="798824"/>
            <a:ext cx="9009087" cy="5050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Point 3 Query Used: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>
              <a:lnSpc>
                <a:spcPct val="110000"/>
              </a:lnSpc>
            </a:pPr>
            <a:r>
              <a:rPr lang="en-US" sz="1200"/>
              <a:t>Select * from fedex_shipments#Rank shipments by delay within each Warehouse_IDSELECT Shipment_ID,Warehouse_ID,Delay_Hours,RANK() OVER (PARTITION BY Warehouse_ID ORDER BY Delay_Hours DESC) AS Delay_Rank_In_WarehouseFROM fedex_shipments;</a:t>
            </a:r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endParaRPr lang="en-US" sz="1200" b="1"/>
          </a:p>
          <a:p>
            <a:pPr>
              <a:lnSpc>
                <a:spcPct val="110000"/>
              </a:lnSpc>
            </a:pPr>
            <a:endParaRPr lang="en-US" sz="1200" b="1"/>
          </a:p>
          <a:p>
            <a:pPr>
              <a:lnSpc>
                <a:spcPct val="110000"/>
              </a:lnSpc>
            </a:pPr>
            <a:endParaRPr lang="en-US" sz="1200" b="1"/>
          </a:p>
          <a:p>
            <a:pPr>
              <a:lnSpc>
                <a:spcPct val="110000"/>
              </a:lnSpc>
            </a:pPr>
            <a:endParaRPr lang="en-US" sz="1200" b="1"/>
          </a:p>
          <a:p>
            <a:pPr>
              <a:lnSpc>
                <a:spcPct val="110000"/>
              </a:lnSpc>
            </a:pPr>
            <a:r>
              <a:rPr lang="en-US" sz="1200" b="1"/>
              <a:t>Point 4 Query Used:</a:t>
            </a:r>
          </a:p>
          <a:p>
            <a:pPr>
              <a:lnSpc>
                <a:spcPct val="110000"/>
              </a:lnSpc>
            </a:pPr>
            <a:endParaRPr lang="en-US" sz="1200" b="1"/>
          </a:p>
          <a:p>
            <a:pPr>
              <a:lnSpc>
                <a:spcPct val="110000"/>
              </a:lnSpc>
            </a:pPr>
            <a:r>
              <a:rPr lang="en-US" sz="1200"/>
              <a:t>SELECT o.Delivery_Type,AVG(s.Delay_Hours) AS Avg_Delay_Hours,COUNT(*) AS Shipment_CountFROM fedex_shipments sJOIN fedex_orders o  ON s.Order_ID = o.Order_IDGROUP BY o.Delivery_Type;</a:t>
            </a:r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r>
              <a:rPr lang="en-US" sz="1200" b="1"/>
              <a:t>Average delay per Delivery_Type (Express / Standard)</a:t>
            </a:r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endParaRPr lang="en-US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D4FCD0-D15A-62E1-A1FA-F434E2AA1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788" y="5387570"/>
            <a:ext cx="3953427" cy="1343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9A2287-F885-A513-B127-3E28E1385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221" y="2054125"/>
            <a:ext cx="4696480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51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22A67-EECE-51EF-E61C-6F2B15E78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C830B-A3A2-C86F-11A4-394ABC9E43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3: </a:t>
            </a:r>
            <a:r>
              <a:rPr lang="en-US"/>
              <a:t>Route Optimization Insights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F9FA1-F1C5-F438-AA63-679FF9E93AD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98033" y="549275"/>
            <a:ext cx="8589364" cy="630872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Point 1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Average transit time (in hours) across all shipments per route: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SELECT Route_ID,AVG(TIMESTAMPDIFF(HOUR, Pickup_Date, Delivery_Date)) AS Avg_Transit_Hours,COUNT(*) AS Shipment_CountFROM fedex_shipmentsGROUP BY Route_ID;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Point 2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Average delay (in hours) per route: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SELECT Route_ID,AVG(Delay_Hours) AS Avg_Delay_Hours,COUNT(*) AS Shipment_CountFROM fedex_shipmentsGROUP BY Route_ID;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37CFF9-A429-EF30-C0B9-433986E05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345" y="1886172"/>
            <a:ext cx="3238952" cy="14098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AE3F5C-3EA8-524E-E7B8-E36B08788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345" y="4691160"/>
            <a:ext cx="3753374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84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BA438-1A86-D1CA-30CF-BBAE5175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DE43A-4834-94F3-8E6F-F007C4FB5F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3: </a:t>
            </a:r>
            <a:r>
              <a:rPr lang="en-US"/>
              <a:t>Route Optimization Insights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50216-C44B-41A9-71F7-B0B218EE5F2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98033" y="549275"/>
            <a:ext cx="8589364" cy="630872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Point 3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Distance-to-time efficiency ratio = Distance_KM / Avg_Transit_Time_Hours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* from fedex_shipments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WITH route_stats AS (SELECT Route_ID,AVG(TIMESTAMPDIFF(HOUR, Pickup_Date, Delivery_Date)) AS Avg_Transit_Hours,AVG(Delay_Hours) AS Avg_Delay_Hours,COUNT(*) AS Shipment_CountFROM fedex_shipmentsGROUP BY Route_ID)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r.Route_ID,r.Source_City,r.Destination_City,r.Distance_KM,rs.Avg_Transit_Hours,rs.Avg_Delay_Hours,rs.Shipment_Count,r.Distance_KM / NULLIF(rs.Avg_Transit_Hours, 0) AS Distance_Time_EfficiencyFROM fedex_routes rJOIN route_stats rs  ON r.Route_ID = rs.Route_ID;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3E118-16FA-AF25-00AC-C19BFFD72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8" y="3186928"/>
            <a:ext cx="7906853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21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A0FB6-59EA-1238-1E9E-542A3239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7F9D-86EC-D3AC-9BB2-D389CAD99F8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3: </a:t>
            </a:r>
            <a:r>
              <a:rPr lang="en-US"/>
              <a:t>Route Optimization Insights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F8ECE-1847-8473-3D63-BB883391D1A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98033" y="549275"/>
            <a:ext cx="8589364" cy="630872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Point 4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Identify 3 routes with the worst efficiency</a:t>
            </a:r>
            <a:endParaRPr lang="en-US" sz="1200"/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WITH route_stats AS (SELECT Route_ID,AVG(TIMESTAMPDIFF(HOUR, Pickup_Date, Delivery_Date)) AS Avg_Transit_Hours,AVG(Delay_Hours) AS Avg_Delay_Hours,COUNT(*) AS Shipment_CountFROM fedex_shipmentsGROUP BY Route_ID),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route_efficiency AS (SELECT r.Route_ID,r.Source_City,r.Destination_City,r.Distance_KM,rs.Avg_Transit_Hours,rs.Avg_Delay_Hours,rs.Shipment_Count,r.Distance_KM / NULLIF(rs.Avg_Transit_Hours, 0) AS Distance_Time_EfficiencyFROM fedex_routes rJOIN route_stats rsON r.Route_ID = rs.Route_ID)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Route_ID,Source_City,Destination_City,Distance_KM,Avg_Transit_Hours,Avg_Delay_Hours,Shipment_Count,Distance_Time_EfficiencyFROM route_efficiencyORDER BY Distance_Time_Efficiency ASC   -- worst (slowest) firstLIMIT 3;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C79D3-2F4A-75E8-B86B-6B1C71EB2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56" y="3774840"/>
            <a:ext cx="8002117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74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CD4B9-E030-C830-35DC-89F3D6BB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B4D5-6BBA-43C3-D9CA-5BF399349A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3: </a:t>
            </a:r>
            <a:r>
              <a:rPr lang="en-US"/>
              <a:t>Route Optimization Insights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D3208-9804-4880-2A5A-37E4B08C536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98033" y="549275"/>
            <a:ext cx="8589364" cy="630872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5 Query Used:</a:t>
            </a:r>
          </a:p>
          <a:p>
            <a:pPr>
              <a:lnSpc>
                <a:spcPct val="110000"/>
              </a:lnSpc>
              <a:buAutoNum type="arabicPeriod"/>
            </a:pPr>
            <a:r>
              <a:rPr lang="en-US" sz="1200" b="1"/>
              <a:t>Compute Actual Transit Hours for each shipment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SELECT Shipment_ID,Route_ID,Pickup_Date,Delivery_Date,TIMESTAMPDIFF(HOUR, Pickup_Date, Delivery_Date) AS Actual_Transit_HoursFROM fedex_shipments;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2.Count shipments delayed beyond expected per route=fedex_routes.Avg_Transit_Time_Hours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s.Route_ID,COUNT(*) AS Total_Shipments,SUM(CASE WHEN TIMESTAMPDIFF(HOUR, s.Pickup_Date, s.Delivery_Date) &gt; r.Avg_Transit_Time_HoursTHEN 1 ELSE 0END) AS Delayed_Beyond_Expected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FROM fedex_shipments sJOIN fedex_routes rON s.Route_ID = r.Route_IDGROUP BY s.Route_ID;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E735E-583A-6BEA-61D3-2C2921C8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949" y="1853779"/>
            <a:ext cx="5153744" cy="1171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D905A9-A974-33D5-AC07-90A55008B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047" y="4680756"/>
            <a:ext cx="3267531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9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B8E2E-A3B2-C1A2-7EEE-48049FF45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1FB2-988F-814F-114E-0DDA138A9D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3: </a:t>
            </a:r>
            <a:r>
              <a:rPr lang="en-US"/>
              <a:t>Route Optimization Insights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EF312-C980-6E6D-5C8A-526BAB739F9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5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3. Calculate delay percentage per route=Delayed_Beyond_Expected / Total_Shipments) * 100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Route_ID,Total_Shipments,Delayed_Beyond_Expected,ROUND((Delayed_Beyond_Expected * 100.0 / Total_Shipments), 2) AS Delayed_PctFROM (SELECT s.Route_ID,COUNT(*) AS Total_Shipments,SUM(CASEWHEN TIMESTAMPDIFF(HOUR, s.Pickup_Date, s.Delivery_Date) &gt; r.Avg_Transit_Time_HoursTHEN 1 ELSE 0END) AS Delayed_Beyond_ExpectedFROM fedex_shipments sJOIN fedex_routes rON s.Route_ID = r.Route_IDGROUP BY s.Route_ID) AS route_delay;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endParaRPr lang="en-US" sz="1200" b="1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/>
              <a:t>4. Filter where delay percentage &gt; 20%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SELECT * FROM (SELECT s.Route_ID,COUNT(*) AS Total_Shipments,SUM(CASEWHEN TIMESTAMPDIFF(HOUR, s.Pickup_Date, s.Delivery_Date) &gt; r.Avg_Transit_Time_HoursTHEN 1 ELSE 0END)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/>
              <a:t>AS Delayed_Beyond_Expected,ROUND((SUM(CASEWHEN TIMESTAMPDIFF(HOUR, s.Pickup_Date, s.Delivery_Date) &gt; r.Avg_Transit_Time_HoursTHEN 1 ELSE 0END) * 100.0 / COUNT(*)), 2) AS Delayed_PctFROM fedex_shipments sJOIN fedex_routes rON s.Route_ID = r.Route_IDGROUP BY s.Route_ID) AS delay_summaryWHERE Delayed_Pct &gt; 20;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4535F-054B-069E-108C-99D5A0E59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72" y="1734182"/>
            <a:ext cx="4801270" cy="1457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B5D618-636F-AA77-9475-C552A0FBF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172" y="5223558"/>
            <a:ext cx="4525006" cy="124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48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B9E6A-F8F5-657D-49BA-4AFC60098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4574-7D6D-BB83-67AF-41BC7CF9EF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3: </a:t>
            </a:r>
            <a:r>
              <a:rPr lang="en-US"/>
              <a:t>Route Optimization Insights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09152-A7EB-194E-7F42-DAC2F84510B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6 </a:t>
            </a:r>
            <a:r>
              <a:rPr lang="en-IN" sz="1400" b="1"/>
              <a:t>Recommended Routes for Optimization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IN" sz="1400"/>
              <a:t>R003 (Singapore -Hong Kong)-Worst efficiency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IN" sz="1400"/>
              <a:t>R019 (Johannesburg -Dubai)-100% delayed shipments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IN" sz="1400"/>
              <a:t>R002 (Dubai → Shanghai)-</a:t>
            </a:r>
            <a:r>
              <a:rPr lang="en-US" sz="1400"/>
              <a:t>Extremely high avg delay (41 hours)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sz="1400"/>
              <a:t>Major issues include high transit delays and poor distance efficiency.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Business Recommendations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sz="1400"/>
              <a:t>Re-evaluate carrier partners for </a:t>
            </a:r>
            <a:r>
              <a:rPr lang="en-US" sz="1400" b="1"/>
              <a:t>R003, R019, R002 </a:t>
            </a:r>
            <a:r>
              <a:rPr lang="en-US" sz="1400"/>
              <a:t>and need optimization focus.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sz="1400"/>
              <a:t>Improve coordination at transfer hubs (Hong Kong, Istanbul)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sz="1400"/>
              <a:t>Consider changing flight schedules or transshipment planning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sz="1400"/>
              <a:t>Evaluate alternative hub routing paths and </a:t>
            </a:r>
          </a:p>
          <a:p>
            <a:pPr>
              <a:lnSpc>
                <a:spcPct val="110000"/>
              </a:lnSpc>
            </a:pPr>
            <a:r>
              <a:rPr lang="en-IN" sz="1400"/>
              <a:t>Try hub-to-hub reroutes like:</a:t>
            </a:r>
          </a:p>
          <a:p>
            <a:pPr>
              <a:lnSpc>
                <a:spcPct val="110000"/>
              </a:lnSpc>
            </a:pPr>
            <a:r>
              <a:rPr lang="en-US" sz="1400"/>
              <a:t>Singapore -Tokyo - Hong Kong instead of direct (for R003)</a:t>
            </a:r>
          </a:p>
          <a:p>
            <a:pPr>
              <a:lnSpc>
                <a:spcPct val="110000"/>
              </a:lnSpc>
            </a:pPr>
            <a:r>
              <a:rPr lang="en-US" sz="1400"/>
              <a:t>Dubai - Mumbai →-Shanghai instead of direct (for R002)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0D3D7-B208-D9C4-69E6-592AA0504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8" y="4781862"/>
            <a:ext cx="6355830" cy="194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850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88DC5-2ABC-AF77-F569-1CC42383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44AB-732D-A484-1F95-2409D3457F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4: </a:t>
            </a:r>
            <a:r>
              <a:rPr lang="en-US"/>
              <a:t>Warehouse Performance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68DD9-CD0D-9F79-1FFF-577096988D1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1 Query Used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Top 3 warehouses with highest average delay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400"/>
              <a:t>SELECT s.Warehouse_ID,w.City,w.Country,AVG(s.Delay_Hours) AS Avg_Delay_Hours,COUNT(*) AS Shipment_CountFROM fedex_shipments sJOIN fedex_warehouses wON s.Warehouse_ID = w.Warehouse_IDGROUP BY s.Warehouse_ID, w.City, w.CountryORDER BY Avg_Delay_Hours DESCLIMIT 3;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2 Query Used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Total shipments vs delayed shipments per warehouse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s.Warehouse_ID,w.City,w.Country,COUNT(*) AS Total_Shipments,SUM(CASE WHEN s.Delay_Hours &gt; 0 THEN 1 ELSE 0 END) AS Delayed_ShipmentsFROM fedex_shipments sJOIN fedex_warehouses wON s.Warehouse_ID = w.Warehouse_IDGROUP BY s.Warehouse_ID, w.City, w.CountryORDER BY Delayed_Shipments DESC;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525A3-9DA5-E232-6670-547407F15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751" y="1890625"/>
            <a:ext cx="4782217" cy="1247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F26202-33C5-E14A-B996-AA3ACFC12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751" y="5157222"/>
            <a:ext cx="5287113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542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F3F79-050D-A996-50D4-C3F14A4F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E8251-59D7-A732-183C-12321ED84E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4: </a:t>
            </a:r>
            <a:r>
              <a:rPr lang="en-US"/>
              <a:t>Warehouse Performance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8342B-5DFF-90D1-5AAA-7BCE6CF7CED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3 Query Used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Use CTEs to find warehouses where avg delay &gt; global avg delay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Global average delay (all shipments)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AVG(Delay_Hours) AS Global_Avg_DelayFROM fedex_shipments;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WITH warehouse_delay AS (SELECT Warehouse_ID,AVG(Delay_Hours) AS Avg_Delay_Hours,COUNT(*) AS Shipment_CountFROM fedex_shipmentsGROUP BY Warehouse_ID),global_delay AS (SELECT AVG(Delay_Hours) AS Global_Avg_DelayFROM fedex_shipments)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wd.Warehouse_ID,w.City,w.Country,wd.Avg_Delay_Hours,gd.Global_Avg_DelayFROM warehouse_delay wdCROSS JOIN global_delay gdJOIN fedex_warehouses w  ON wd.Warehouse_ID = w.Warehouse_IDWHERE wd.Avg_Delay_Hours &gt; gd.Global_Avg_DelayORDER BY wd.Avg_Delay_Hours DESC;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6EE77A-4BB5-C535-6ECF-AA2F6B2EC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806" y="4234696"/>
            <a:ext cx="5715798" cy="1476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DE1070-DEF9-CF87-9E02-F8F004C32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228" y="1528997"/>
            <a:ext cx="2162477" cy="56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46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07F98-370F-FC0D-D563-0994D77A4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8DB65-ECDB-DB70-322C-CC1E900A2FE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4: </a:t>
            </a:r>
            <a:r>
              <a:rPr lang="en-US"/>
              <a:t>Warehouse Performance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73783-D176-41D2-B6AE-0805EE51D8F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4 Query Used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Rank warehouses by on-time delivery percentage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WITH wh_summary AS (SELECT Warehouse_ID,COUNT(*) AS Total_Shipments,SUM(CASE WHEN Delay_Hours &lt;= 0 THEN 1 ELSE 0 END) AS OnTime_ShipmentsFROM fedex_shipmentsGROUP BY Warehouse_ID),wh_rate AS (SELECT ws.Warehouse_ID,w.City,w.Country,ws.Total_Shipments,ws.OnTime_Shipments,ROUND(ws.OnTime_Shipments * 100.0 / ws.Total_Shipments, 2) AS OnTime_PctFROM wh_summary wsJOIN fedex_warehouses wON ws.Warehouse_ID = w.Warehouse_ID)SELECT Warehouse_ID,City,Country,Total_Shipments,OnTime_Shipments,OnTime_Pct,RANK() OVER (ORDER BY OnTime_Pct DESC) AS OnTime_RankFROM wh_rateORDER BY OnTime_Rank;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5CC2A-A8BD-6AFF-E3DD-616681713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8" y="3101608"/>
            <a:ext cx="6725589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11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DD53A-DCF1-C6B0-3AE5-5319C0775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86CD5-CFFF-3CAD-6286-D4881E3BBF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5: </a:t>
            </a:r>
            <a:r>
              <a:rPr lang="en-US"/>
              <a:t>Delivery Agent Performance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9D84B-C280-DF4F-CA64-55375F090F8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1 Query Used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Rank delivery agents (per route) by on-time delivery %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Each agent’s performance on each route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WITH agent_route_perf AS (SELECT s.Agent_ID,s.Route_ID,COUNT(*) AS Total_Shipments,SUM(CASE WHEN s.Delay_Hours &lt;= 0 THEN 1 ELSE 0 END) AS OnTime_ShipmentsFROM fedex_shipments 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GROUP BY s.Agent_ID, s.Route_ID)SELECT Agent_ID,Route_ID,Total_Shipments,OnTime_Shipments,ROUND(OnTime_Shipments * 100.0 / Total_Shipments, 2) AS OnTime_PctFROM agent_route_perf;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Ranking within each route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WITH agent_route_perf AS (SELECT s.Agent_ID,s.Route_ID,COUNT(*) AS Total_Shipments,SUM(CASE WHEN s.Delay_Hours &lt;= 0 THEN 1 ELSE 0 END) AS OnTime_ShipmentsFROM fedex_shipments sGROUP BY s.Agent_ID, s.Route_ID),agent_route_ranked AS (SELECT Agent_ID,Route_ID,Total_Shipments,OnTime_Shipments,ROUND(OnTime_Shipments * 100.0 / Total_Shipments, 2) AS OnTime_Pct,RANK() OVER (PARTITION BY Route_IDORDER BY OnTime_Shipments * 1.0 / Total_Shipments DESC) AS OnTime_Rank_In_RouteFROM agent_route_perf)SELECT * FROM agent_route_rankedORDER BY Route_ID, OnTime_Rank_In_Route;</a:t>
            </a: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19A0EC-7B4C-F003-3880-F65D95C47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523" y="2776446"/>
            <a:ext cx="4686954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16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11AF3-8621-A811-21C9-6A2E7E65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A92B-6BE9-DFBA-26C2-0D6606E98A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5: </a:t>
            </a:r>
            <a:r>
              <a:rPr lang="en-US"/>
              <a:t>Delivery Agent Performance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7282A-D337-CA4C-8F4D-15A5A9B9F75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1 Query Used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Point 2 Query Used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Find agents whose on-time % is below 85%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400"/>
              <a:t>WITH agent_overall_perf AS (SELECT Agent_ID,COUNT(*) AS Total_Shipments,SUM(CASE WHEN Delay_Hours &lt;= 0 THEN 1 ELSE 0 END) AS OnTime_ShipmentsFROM fedex_shipmentsGROUP BY Agent_ID)SELECT aop.Agent_ID,da.Agent_Name,aop.Total_Shipments,aop.OnTime_Shipments,ROUND(aop.OnTime_Shipments * 100.0 / aop.Total_Shipments, 2) AS OnTime_PctFROM agent_overall_perf aopJOIN fedex_delivery_agents daON aop.Agent_ID = da.Agent_ID;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FA47E-00C7-2970-9A44-3AA1D0C0D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642" y="549275"/>
            <a:ext cx="5973009" cy="1409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1D7299-0AF4-B92E-B472-32184B308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642" y="4908355"/>
            <a:ext cx="5068007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60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9F6A4-F3FE-D91B-6B6C-D835B593C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C1ED-1764-20A8-9AED-7700AC0051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5: </a:t>
            </a:r>
            <a:r>
              <a:rPr lang="en-US"/>
              <a:t>Delivery Agent Performance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E87AE-F67C-AE92-3D62-B735FE25041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2 Query Used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Filter on-time % &lt; 85%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WITH agent_overall_perf AS (SELECT Agent_ID,COUNT(*) AS Total_Shipments,SUM(CASE WHEN Delay_Hours &lt;= 0 THEN 1 ELSE 0 END) AS OnTime_ShipmentsFROM fedex_shipmentsGROUP BY Agent_ID)SELECT aop.Agent_ID,da.Agent_Name,aop.Total_Shipments,aop.OnTime_Shipments,ROUND(aop.OnTime_Shipments * 100.0 / aop.Total_Shipments, 2) AS OnTime_PctFROM agent_overall_perf aopJOIN fedex_delivery_agents daON aop.Agent_ID = da.Agent_IDWHERE (aop.OnTime_Shipments * 100.0 / aop.Total_Shipments) &lt; 85ORDER BY OnTime_Pct;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Point 3 Query Used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Compare avg rating &amp; experience of top 5 vs bottom 5 agents (using subqueries)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400"/>
              <a:t>WITH agent_perf AS (SELECT da.Agent_ID,da.Agent_Name,da.Experience_Years,da.Avg_Rating,COUNT(*) AS Total_Shipments,SUM(CASE WHEN s.Delay_Hours &lt;= 0 THEN 1 ELSE 0 END) AS OnTime_Shipments,ROUND(SUM(CASE WHEN s.Delay_Hours &lt;= 0 THEN 1 ELSE 0 END) * 100.0 / COUNT(*), 2) AS OnTime_PctFROM fedex_delivery_agents daJOIN fedex_shipments sON da.Agent_ID = s.Agent_IDGROUP BY da.Agent_ID, da.Agent_Name, da.Experience_Years, da.Avg_Rating)SELECT * FROM agent_perf;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958E5-D968-2F4D-9D54-919C7B110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680" y="2666893"/>
            <a:ext cx="4934639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79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B86DC-A54A-C1CB-C4B9-8EB658FD4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D7DE-69F3-017A-1998-EE8C1D83BEE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5: </a:t>
            </a:r>
            <a:r>
              <a:rPr lang="en-US"/>
              <a:t>Delivery Agent Performance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7D681-8E08-BCA1-2722-9DC47ADA4CB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Top 5 agents by on-time %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400"/>
              <a:t>WITH agent_perf AS (SELECT da.Agent_ID,da.Agent_Name,da.Experience_Years,da.Avg_Rating,COUNT(*) AS Total_Shipments,SUM(CASE WHEN s.Delay_Hours &lt;= 0 THEN 1 ELSE 0 END) AS OnTime_Shipments,ROUND((SUM(CASE WHEN s.Delay_Hours &lt;= 0 THEN 1 ELSE 0 END) * 100.0 / COUNT(*)), 2) AS OnTime_PctFROM fedex_delivery_agents daJOIN fedex_shipments sON da.Agent_ID = s.Agent_IDGROUP BY da.Agent_ID, da.Agent_Name, da.Experience_Years, da.Avg_Rating)SELECT * FROM agent_perfORDER BY OnTime_Pct DESC     -- Top 5 firstLIMIT 5;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5E9A8-AF76-97BE-D424-95DBE3AE4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414" y="142940"/>
            <a:ext cx="6106377" cy="1295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E82412-1F81-2FCD-DF85-AC39CEA58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872" y="4107910"/>
            <a:ext cx="6487430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A5D8A-0589-354A-B1CA-43CB7DD5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3067-AFAC-ACBA-BEF3-43F094EE79D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5: </a:t>
            </a:r>
            <a:r>
              <a:rPr lang="en-US"/>
              <a:t>Delivery Agent Performance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2FA99-38D4-3756-8F89-B026CD49C60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Bottom 5 agents by on-time %</a:t>
            </a:r>
            <a:endParaRPr lang="en-IN" sz="1400"/>
          </a:p>
          <a:p>
            <a:pPr marL="0" indent="0">
              <a:lnSpc>
                <a:spcPct val="110000"/>
              </a:lnSpc>
              <a:buNone/>
            </a:pPr>
            <a:r>
              <a:rPr lang="en-IN" sz="1400"/>
              <a:t>WITH agent_perf AS (SELECT da.Agent_ID,da.Agent_Name,da.Experience_Years,da.Avg_Rating,COUNT(*) AS Total_Shipments,SUM(CASE WHEN s.Delay_Hours &lt;= 0 THEN 1 ELSE 0 END) AS OnTime_Shipments,ROUND((SUM(CASE WHEN s.Delay_Hours &lt;= 0 THEN 1 ELSE 0 END) * 100.0 / COUNT(*)), 2) AS OnTime_PctFROM fedex_delivery_agents daJOIN fedex_shipments sON da.Agent_ID = s.Agent_IDGROUP BY da.Agent_ID, da.Agent_Name, da.Experience_Years, da.Avg_Rating)SELECT * FROM agent_perfORDER BY OnTime_Pct ASC     -- Worst firstLIMIT 5;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55A56E-1856-140C-20C2-CFE0675E2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127" y="2728815"/>
            <a:ext cx="6239746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4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A98B5-EE47-71D2-3953-870CBA2B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BC19-9E72-F895-667A-9D6EB6D4B2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5: </a:t>
            </a:r>
            <a:r>
              <a:rPr lang="en-US"/>
              <a:t>Delivery Agent Performance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DEB71-81FA-60F8-A1CA-C8782324828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Point 4:</a:t>
            </a:r>
            <a:endParaRPr lang="en-IN" sz="1400"/>
          </a:p>
          <a:p>
            <a:pPr marL="0" indent="0">
              <a:lnSpc>
                <a:spcPct val="110000"/>
              </a:lnSpc>
              <a:buNone/>
            </a:pPr>
            <a:r>
              <a:rPr lang="en-IN" sz="1600" b="1"/>
              <a:t>Insights: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sz="1400"/>
              <a:t>Majority of low-performing agents have </a:t>
            </a:r>
            <a:r>
              <a:rPr lang="en-US" sz="1400" b="1"/>
              <a:t>0–1 year experience</a:t>
            </a:r>
            <a:r>
              <a:rPr lang="en-US" sz="1400"/>
              <a:t> and </a:t>
            </a:r>
            <a:r>
              <a:rPr lang="en-US" sz="1400" b="1"/>
              <a:t>0% on-time deliveries.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2.</a:t>
            </a:r>
            <a:r>
              <a:rPr lang="en-US" sz="1400"/>
              <a:t> Top 5 agents have higher experience (1.5–5 years) and better ratings.</a:t>
            </a: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r>
              <a:rPr lang="en-IN" sz="1600" b="1"/>
              <a:t>Recommendations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sz="1400"/>
              <a:t>Targeted Training Programs for Bottom 5 Agents.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sz="1400"/>
              <a:t>Assign top-performing agents as </a:t>
            </a:r>
            <a:r>
              <a:rPr lang="en-US" sz="1400" b="1"/>
              <a:t>mentors</a:t>
            </a:r>
            <a:r>
              <a:rPr lang="en-US" sz="1400"/>
              <a:t> to the lowest performing ones.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sz="1400"/>
              <a:t>Workload Rebalancing Based on Performance.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IN" sz="1400"/>
              <a:t>Implement Performance-Based Incentives.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sz="1400"/>
              <a:t>Improve Tracking and Support Tools.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sz="1400"/>
              <a:t>Reassign shipments based on performance ranking</a:t>
            </a: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1DD94-C46E-F3CC-6A32-06DE0887C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117" y="4811843"/>
            <a:ext cx="5997765" cy="204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492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5CFE6-384C-C21F-A542-8BA131A4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F76B1-EFE3-FB84-F684-335F3DC613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6: </a:t>
            </a:r>
            <a:r>
              <a:rPr lang="en-US"/>
              <a:t>Shipment Tracking Analytics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044B1-ED3C-A013-1253-4A7C39DC1E6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solidFill>
            <a:srgbClr val="FF66FF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r>
              <a:rPr lang="en-IN" sz="1600" b="1"/>
              <a:t>Point 1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/>
              <a:t>Latest status &amp; latest Delivery_Date for each shipment: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/>
              <a:t>WITH shipment_latest AS (SELECT Shipment_ID,Delivery_Status,Delivery_Date,ROW_NUMBER() OVER (PARTITION BY Shipment_IDORDER BY Delivery_Date DESC) AS rnFROM fedex_shipments)SELECT Shipment_ID,Delivery_Status AS Latest_Status,Delivery_Date AS Latest_Delivery_DateFROM shipment_latestWHERE rn = 1;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/>
          </a:p>
          <a:p>
            <a:pPr marL="0" indent="0">
              <a:lnSpc>
                <a:spcPct val="110000"/>
              </a:lnSpc>
              <a:buNone/>
            </a:pPr>
            <a:endParaRPr lang="en-US" sz="1600"/>
          </a:p>
          <a:p>
            <a:pPr marL="0" indent="0">
              <a:lnSpc>
                <a:spcPct val="110000"/>
              </a:lnSpc>
              <a:buNone/>
            </a:pPr>
            <a:endParaRPr lang="en-US" sz="1600"/>
          </a:p>
          <a:p>
            <a:pPr marL="0" indent="0">
              <a:lnSpc>
                <a:spcPct val="110000"/>
              </a:lnSpc>
              <a:buNone/>
            </a:pPr>
            <a:endParaRPr lang="en-US" sz="1600"/>
          </a:p>
          <a:p>
            <a:pPr marL="0" indent="0">
              <a:lnSpc>
                <a:spcPct val="110000"/>
              </a:lnSpc>
              <a:buNone/>
            </a:pPr>
            <a:endParaRPr lang="en-US" sz="160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/>
              <a:t>Point 2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/>
              <a:t>Routes where majority shipments are still “In Transit” or “Returned” and routes where &gt; 50% of shipments are not yet delivered.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/>
              <a:t>WITH route_status AS (SELECT Route_ID,COUNT(*) AS Total_Shipments,SUM(CASE WHEN Delivery_Status IN ('In Transit', 'Returned') THEN 1 ELSE 0END) AS Not_Completed_ShipmentsFROM fedex_shipmentsGROUP BY Route_ID)SELECT Route_ID,Total_Shipments,Not_Completed_Shipments,ROUND(Not_Completed_Shipments * 100.0 / Total_Shipments, 2) AS Not_Completed_PctFROM route_statusWHERE Not_Completed_Shipments * 1.0 / Total_Shipments &gt; 0.5   -- majorityORDER BY Not_Completed_Pct DESC;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6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AD87A8-BA24-5542-87E6-F89BACEB4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830" y="2378018"/>
            <a:ext cx="4182059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11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A1141-4DC7-FAF8-F537-87008655D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C0C1B-9249-51E9-4ACC-8B90803BDC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6: </a:t>
            </a:r>
            <a:r>
              <a:rPr lang="en-US"/>
              <a:t>Shipment Tracking Analytics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2FB1A-D507-A204-48F1-C41B9624B38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solidFill>
            <a:srgbClr val="FF66FF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2: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3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Most frequent delay reasons: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Delay_Reason,COUNT(*) AS Occurrences,ROUND(AVG(Delay_Hours), 2) AS Avg_Delay_HoursFROM fedex_shipmentsWHERE Delay_Reason IS NOT NULLGROUP BY Delay_ReasonORDER BY Occurrences DESC;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4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Orders with exceptionally high delay (&gt;120 hours)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s.Shipment_ID,s.Order_ID,s.Route_ID,s.Warehouse_ID,s.Agent_ID,s.Delay_Hours,s.Pickup_Date,s.Delivery_Date,s.Delivery_Status,s.Delay_ReasonFROM fedex_shipments sWHERE s.Delay_Hours &gt; 120ORDER BY s.Delay_Hours DESC;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B1067-3C0D-48DB-095C-B1FA3015F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435" y="549275"/>
            <a:ext cx="4648849" cy="666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8547AC-D05B-CC5B-FA6C-5266F9467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699" y="3163388"/>
            <a:ext cx="3010320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41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67E94-F0F0-927E-87D4-5FC45191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D41D8-DD59-2B33-6B14-F366F0749E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6: </a:t>
            </a:r>
            <a:r>
              <a:rPr lang="en-US"/>
              <a:t>Shipment Tracking Analytics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722D8-FA5F-7C88-FCF3-B6230A53127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solidFill>
            <a:srgbClr val="FF66FF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Point 4: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ED7248-31EE-C531-9016-9B7D378BE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8" y="681886"/>
            <a:ext cx="7802064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47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EF767-31FF-1CDD-BD80-80656E03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9BD4-004B-C06F-B1FD-A92886BA1D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7: </a:t>
            </a:r>
            <a:r>
              <a:rPr lang="en-US"/>
              <a:t>Advanced KPI Reporting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95B41-2EFC-A636-B685-28684D0C947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solidFill>
            <a:srgbClr val="FF66FF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Point 1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KPI – Average Delivery Delay per Source_Country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r.Source_Country,ROUND(AVG(s.Delay_Hours), 2) AS Avg_Delay_Hours,COUNT(*) AS Total_ShipmentsFROM fedex_shipments sJOIN fedex_routes rON s.Route_ID = r.Route_IDGROUP BY r.Source_CountryORDER BY Avg_Delay_Hours DESC;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Point 2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KPI – On-Time Delivery %=</a:t>
            </a:r>
            <a:r>
              <a:rPr lang="en-US" sz="1400" b="1"/>
              <a:t>(Total On-Time Deliveries / Total Deliveries) * 100</a:t>
            </a:r>
            <a:endParaRPr lang="en-IN" sz="1400" b="1"/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Overall On-Time 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9AB62-D9BD-FA1E-CD7D-B74A560C8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199" y="1661319"/>
            <a:ext cx="3915321" cy="1371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1C493F-D51D-FBAD-B46C-ADFA9314D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831" y="4609025"/>
            <a:ext cx="314368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13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B8C61-5977-7331-CF0F-3808CC69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6429-9335-2806-00C2-8B9F254B9F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7: </a:t>
            </a:r>
            <a:r>
              <a:rPr lang="en-US"/>
              <a:t>Advanced KPI Reporting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D7350-EF4F-27D1-D83C-EA8DF807E3C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solidFill>
            <a:srgbClr val="FF66FF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Point 2 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On-Time % per Route_ID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Route_ID,COUNT(*) AS Total_Deliveries,SUM(CASE WHEN Delay_Hours &lt;= 0 THEN 1 ELSE 0 END) AS OnTime_Deliveries,ROUND(SUM(CASE WHEN Delay_Hours &lt;= 0 THEN 1 ELSE 0 END) * 100.0 / COUNT(*),2) AS OnTime_PctFROM fedex_shipmentsGROUP BY Route_IDORDER BY OnTime_Pct DESC;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Point 3 Query Used: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Average Delay (in hours) per Route_ID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/>
              <a:t>SELECT Route_ID,ROUND(AVG(Delay_Hours), 2) AS Avg_Delay_Hours,COUNT(*) AS Shipment_CountFROM fedex_shipmentsGROUP BY Route_IDORDER BY Avg_Delay_Hours DESC;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             </a:t>
            </a:r>
            <a:endParaRPr lang="en-IN" sz="14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4652A-DF7C-E16E-4840-4B6988F90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771" y="2386702"/>
            <a:ext cx="4220164" cy="1305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386725-89AA-1192-E132-B2BCC31A7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077" y="5406904"/>
            <a:ext cx="3153215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33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91A48-19AF-BD3A-50D9-3CB08352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D679E-23C1-889E-9D08-1509AF8A59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3252788" cy="222408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Task 7: </a:t>
            </a:r>
            <a:r>
              <a:rPr lang="en-US"/>
              <a:t>Advanced KPI Reporting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488C3-8608-347D-9FE3-908F8517EB0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solidFill>
            <a:srgbClr val="FF66FF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Point 4 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400" b="1"/>
              <a:t>KPI – Warehouse Utilization %=</a:t>
            </a:r>
            <a:r>
              <a:rPr lang="en-US" sz="1400" b="1"/>
              <a:t>(Shipments_Handled / Capacity_per_day) * 100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400"/>
              <a:t>SELECT w.Warehouse_ID,w.City,w.Country,w.Capacity_per_day,COUNT(s.Shipment_ID) AS Shipments_Handled,ROUND(COUNT(s.Shipment_ID) * 100.0 / w.Capacity_per_day,2) AS Utilization_PctFROM fedex_warehouses wLEFT JOIN fedex_shipments s  ON w.Warehouse_ID = s.Warehouse_IDGROUP BY w.Warehouse_ID, w.City, w.Country, w.Capacity_per_dayORDER BY Utilization_Pct DESC;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IN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             </a:t>
            </a:r>
            <a:endParaRPr lang="en-IN" sz="14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CD1F1-542D-E003-0E09-5971C131A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412" y="2647841"/>
            <a:ext cx="6068272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613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BB38BC-94E2-CEDA-C323-E31D9989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3E221-C903-EC1B-E90B-FB736B4F7D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68534" y="134911"/>
            <a:ext cx="5916169" cy="144700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Final Summary:</a:t>
            </a:r>
            <a:b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insights and Business Recommendations</a:t>
            </a:r>
          </a:p>
        </p:txBody>
      </p:sp>
      <p:pic>
        <p:nvPicPr>
          <p:cNvPr id="6" name="Picture 5" descr="Storage crates">
            <a:extLst>
              <a:ext uri="{FF2B5EF4-FFF2-40B4-BE49-F238E27FC236}">
                <a16:creationId xmlns:a16="http://schemas.microsoft.com/office/drawing/2014/main" id="{8017F518-C9FF-BB6B-6B89-C09BCB945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59" r="26928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63870-A3F0-327B-0569-EEF92AF4FB5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568533" y="1716823"/>
            <a:ext cx="5916169" cy="5006266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0">
              <a:lnSpc>
                <a:spcPct val="110000"/>
              </a:lnSpc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5600" b="1"/>
              <a:t>Key Insights Summary:</a:t>
            </a:r>
          </a:p>
          <a:p>
            <a:pPr marL="342900">
              <a:lnSpc>
                <a:spcPct val="110000"/>
              </a:lnSpc>
            </a:pPr>
            <a:r>
              <a:rPr lang="en-US" sz="5600"/>
              <a:t>Some routes show </a:t>
            </a:r>
            <a:r>
              <a:rPr lang="en-US" sz="5600" b="1"/>
              <a:t>very high transit delays</a:t>
            </a:r>
            <a:r>
              <a:rPr lang="en-US" sz="5600"/>
              <a:t> and poor efficiency (R003 Singapore–Hong Kong, R019 Johannesburg–Dubai, R002 Dubai–Shanghai)</a:t>
            </a:r>
          </a:p>
          <a:p>
            <a:pPr marL="342900">
              <a:lnSpc>
                <a:spcPct val="110000"/>
              </a:lnSpc>
            </a:pPr>
            <a:r>
              <a:rPr lang="en-US" sz="5600"/>
              <a:t>Multiple routes have </a:t>
            </a:r>
            <a:r>
              <a:rPr lang="en-US" sz="5600" b="1"/>
              <a:t>&gt;20% shipments delayed beyond expected transit time</a:t>
            </a:r>
            <a:r>
              <a:rPr lang="en-US" sz="5600"/>
              <a:t>, signaling scheduling or operational issues.</a:t>
            </a:r>
          </a:p>
          <a:p>
            <a:pPr marL="342900">
              <a:lnSpc>
                <a:spcPct val="110000"/>
              </a:lnSpc>
            </a:pPr>
            <a:r>
              <a:rPr lang="en-US" sz="5600" b="1"/>
              <a:t>Top 3 warehouses</a:t>
            </a:r>
            <a:r>
              <a:rPr lang="en-US" sz="5600"/>
              <a:t> show the highest average delay, indicating bottlenecks in handling capacity or process flows.</a:t>
            </a:r>
          </a:p>
          <a:p>
            <a:pPr marL="342900">
              <a:lnSpc>
                <a:spcPct val="110000"/>
              </a:lnSpc>
            </a:pPr>
            <a:r>
              <a:rPr lang="en-US" sz="5600" b="1"/>
              <a:t>Top 5 agents</a:t>
            </a:r>
            <a:r>
              <a:rPr lang="en-US" sz="5600"/>
              <a:t> have significantly higher experience (2–5 years) and strong ratings.</a:t>
            </a:r>
          </a:p>
          <a:p>
            <a:pPr marL="342900">
              <a:lnSpc>
                <a:spcPct val="110000"/>
              </a:lnSpc>
            </a:pPr>
            <a:r>
              <a:rPr lang="en-US" sz="5600" b="1"/>
              <a:t>Bottom 5 agents</a:t>
            </a:r>
            <a:r>
              <a:rPr lang="en-US" sz="5600"/>
              <a:t> have very low experience (0–1 years) and near-zero on-time delivery performance.</a:t>
            </a:r>
          </a:p>
          <a:p>
            <a:pPr marL="342900">
              <a:lnSpc>
                <a:spcPct val="110000"/>
              </a:lnSpc>
            </a:pPr>
            <a:r>
              <a:rPr lang="en-US" sz="5600" b="1"/>
              <a:t>Delay reasons</a:t>
            </a:r>
            <a:r>
              <a:rPr lang="en-US" sz="5600"/>
              <a:t> like Traffic, Weather, and Technical issues have the highest frequency.</a:t>
            </a:r>
          </a:p>
          <a:p>
            <a:pPr marL="342900">
              <a:lnSpc>
                <a:spcPct val="110000"/>
              </a:lnSpc>
            </a:pPr>
            <a:r>
              <a:rPr lang="en-US" sz="5600" b="1"/>
              <a:t>On-Time Delivery % varies widely</a:t>
            </a:r>
            <a:r>
              <a:rPr lang="en-US" sz="5600"/>
              <a:t> among routes and warehouses.</a:t>
            </a:r>
          </a:p>
          <a:p>
            <a:pPr marL="342900">
              <a:lnSpc>
                <a:spcPct val="110000"/>
              </a:lnSpc>
            </a:pPr>
            <a:r>
              <a:rPr lang="en-US" sz="5600"/>
              <a:t>Some shipments remain </a:t>
            </a:r>
            <a:r>
              <a:rPr lang="en-US" sz="5600" b="1"/>
              <a:t>In Transit or Returned</a:t>
            </a:r>
            <a:r>
              <a:rPr lang="en-US" sz="5600"/>
              <a:t>, especially clustered across specific routes.</a:t>
            </a:r>
          </a:p>
          <a:p>
            <a:pPr marL="0">
              <a:lnSpc>
                <a:spcPct val="110000"/>
              </a:lnSpc>
            </a:pPr>
            <a:endParaRPr lang="en-US" sz="600" b="1"/>
          </a:p>
          <a:p>
            <a:pPr marL="0">
              <a:lnSpc>
                <a:spcPct val="110000"/>
              </a:lnSpc>
            </a:pPr>
            <a:endParaRPr lang="en-US" sz="600"/>
          </a:p>
          <a:p>
            <a:pPr marL="0">
              <a:lnSpc>
                <a:spcPct val="110000"/>
              </a:lnSpc>
            </a:pPr>
            <a:endParaRPr lang="en-US" sz="600"/>
          </a:p>
          <a:p>
            <a:pPr marL="0">
              <a:lnSpc>
                <a:spcPct val="110000"/>
              </a:lnSpc>
            </a:pPr>
            <a:endParaRPr lang="en-US" sz="600"/>
          </a:p>
          <a:p>
            <a:pPr marL="0">
              <a:lnSpc>
                <a:spcPct val="110000"/>
              </a:lnSpc>
            </a:pPr>
            <a:endParaRPr lang="en-US" sz="600"/>
          </a:p>
          <a:p>
            <a:pPr marL="0">
              <a:lnSpc>
                <a:spcPct val="110000"/>
              </a:lnSpc>
            </a:pPr>
            <a:endParaRPr lang="en-US" sz="600"/>
          </a:p>
          <a:p>
            <a:pPr marL="0">
              <a:lnSpc>
                <a:spcPct val="110000"/>
              </a:lnSpc>
            </a:pPr>
            <a:r>
              <a:rPr lang="en-US" sz="600" b="1"/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70825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0D1EBC-F779-6CF6-95D4-6F7806844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F6C5B-1CF1-AF6B-BF7A-8F57E201F0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4677" y="603504"/>
            <a:ext cx="1087221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Final Summary:</a:t>
            </a:r>
            <a:b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insights and Business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0138BE-6385-7AF7-3314-ADF1C42D6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78" y="2441274"/>
            <a:ext cx="5173647" cy="246422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847BB-D9D5-2B90-5BD4-B9C354D8F46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595672" y="2130552"/>
            <a:ext cx="4886144" cy="455506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>
              <a:lnSpc>
                <a:spcPct val="110000"/>
              </a:lnSpc>
            </a:pPr>
            <a:endParaRPr lang="en-US" sz="400"/>
          </a:p>
          <a:p>
            <a:pPr marL="0" indent="0">
              <a:lnSpc>
                <a:spcPct val="110000"/>
              </a:lnSpc>
              <a:buNone/>
            </a:pPr>
            <a:r>
              <a:rPr lang="en-US" sz="6400" b="1">
                <a:latin typeface="+mj-lt"/>
              </a:rPr>
              <a:t>Business</a:t>
            </a:r>
            <a:r>
              <a:rPr lang="en-US" sz="6400" b="1">
                <a:latin typeface="Aptos Black" panose="020F0502020204030204" pitchFamily="34" charset="0"/>
              </a:rPr>
              <a:t> Recommendations:</a:t>
            </a:r>
          </a:p>
          <a:p>
            <a:pPr marL="342900">
              <a:lnSpc>
                <a:spcPct val="110000"/>
              </a:lnSpc>
            </a:pPr>
            <a:r>
              <a:rPr lang="en-US" sz="6400" b="1">
                <a:latin typeface="Abadi ExtraLight" panose="020F0502020204030204" pitchFamily="34" charset="0"/>
              </a:rPr>
              <a:t>Reroute critical paths (e.g., Singapore–Tokyo–Hong Kong, Dubai–Mumbai–Shanghai).</a:t>
            </a:r>
          </a:p>
          <a:p>
            <a:pPr marL="342900">
              <a:lnSpc>
                <a:spcPct val="110000"/>
              </a:lnSpc>
            </a:pPr>
            <a:r>
              <a:rPr lang="en-US" sz="6400" b="1">
                <a:latin typeface="Abadi ExtraLight" panose="020F0502020204030204" pitchFamily="34" charset="0"/>
              </a:rPr>
              <a:t>Add predictive scheduling using historic delay patterns.</a:t>
            </a:r>
          </a:p>
          <a:p>
            <a:pPr marL="342900">
              <a:lnSpc>
                <a:spcPct val="110000"/>
              </a:lnSpc>
            </a:pPr>
            <a:r>
              <a:rPr lang="en-US" sz="6400" b="1">
                <a:latin typeface="Abadi ExtraLight" panose="020F0502020204030204" pitchFamily="34" charset="0"/>
              </a:rPr>
              <a:t>Introduce real-time monitoring of inbound/outbound traffic.</a:t>
            </a:r>
          </a:p>
          <a:p>
            <a:pPr marL="342900">
              <a:lnSpc>
                <a:spcPct val="110000"/>
              </a:lnSpc>
            </a:pPr>
            <a:r>
              <a:rPr lang="en-US" sz="6400" b="1">
                <a:latin typeface="Abadi ExtraLight" panose="020F0502020204030204" pitchFamily="34" charset="0"/>
              </a:rPr>
              <a:t>Increase automation and labor capacity where delays persist.</a:t>
            </a:r>
          </a:p>
          <a:p>
            <a:pPr marL="342900">
              <a:lnSpc>
                <a:spcPct val="110000"/>
              </a:lnSpc>
            </a:pPr>
            <a:r>
              <a:rPr lang="en-US" sz="6400" b="1">
                <a:latin typeface="Abadi ExtraLight" panose="020F0502020204030204" pitchFamily="34" charset="0"/>
              </a:rPr>
              <a:t>Implement structured training programs targeted at bottom 5 performers.</a:t>
            </a:r>
          </a:p>
          <a:p>
            <a:pPr marL="342900">
              <a:lnSpc>
                <a:spcPct val="110000"/>
              </a:lnSpc>
            </a:pPr>
            <a:r>
              <a:rPr lang="en-US" sz="6400" b="1">
                <a:latin typeface="Abadi ExtraLight" panose="020F0502020204030204" pitchFamily="34" charset="0"/>
              </a:rPr>
              <a:t>Pair low-performing agents with top agents for field mentoring.</a:t>
            </a:r>
          </a:p>
          <a:p>
            <a:pPr marL="342900">
              <a:lnSpc>
                <a:spcPct val="110000"/>
              </a:lnSpc>
            </a:pPr>
            <a:r>
              <a:rPr lang="en-US" sz="6400" b="1">
                <a:latin typeface="Abadi ExtraLight" panose="020F0502020204030204" pitchFamily="34" charset="0"/>
              </a:rPr>
              <a:t>Provide estimated real-time tracking for high-delay routes.</a:t>
            </a:r>
          </a:p>
          <a:p>
            <a:pPr marL="0">
              <a:lnSpc>
                <a:spcPct val="110000"/>
              </a:lnSpc>
            </a:pPr>
            <a:endParaRPr lang="en-US" sz="1000" b="1"/>
          </a:p>
          <a:p>
            <a:pPr marL="0">
              <a:lnSpc>
                <a:spcPct val="110000"/>
              </a:lnSpc>
            </a:pPr>
            <a:endParaRPr lang="en-US" sz="400"/>
          </a:p>
          <a:p>
            <a:pPr marL="0">
              <a:lnSpc>
                <a:spcPct val="110000"/>
              </a:lnSpc>
            </a:pPr>
            <a:endParaRPr lang="en-US" sz="400"/>
          </a:p>
          <a:p>
            <a:pPr marL="0">
              <a:lnSpc>
                <a:spcPct val="110000"/>
              </a:lnSpc>
            </a:pPr>
            <a:endParaRPr lang="en-US" sz="400"/>
          </a:p>
          <a:p>
            <a:pPr marL="0">
              <a:lnSpc>
                <a:spcPct val="110000"/>
              </a:lnSpc>
            </a:pPr>
            <a:endParaRPr lang="en-US" sz="400"/>
          </a:p>
          <a:p>
            <a:pPr marL="0">
              <a:lnSpc>
                <a:spcPct val="110000"/>
              </a:lnSpc>
            </a:pPr>
            <a:endParaRPr lang="en-US" sz="400"/>
          </a:p>
          <a:p>
            <a:pPr marL="0">
              <a:lnSpc>
                <a:spcPct val="110000"/>
              </a:lnSpc>
            </a:pPr>
            <a:r>
              <a:rPr lang="en-US" sz="400" b="1"/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22529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90F82-E678-C0EA-37F6-EE7DE7AA9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EB3D-14FF-4B70-30CD-E71BE486BD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2938072" cy="3018384"/>
          </a:xfrm>
          <a:noFill/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/>
              <a:t>Final Summary:</a:t>
            </a:r>
            <a:br>
              <a:rPr lang="en-US"/>
            </a:br>
            <a:r>
              <a:rPr lang="en-US"/>
              <a:t>key insights and Business Recommendations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80AD1-2CA0-EA34-A578-5D27D4F704E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938072" y="1"/>
            <a:ext cx="8649325" cy="6858000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IN" sz="1600" b="1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             </a:t>
            </a:r>
            <a:endParaRPr lang="en-IN" sz="14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AAD942-136D-7195-2D2D-EC1D00715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185" y="200806"/>
            <a:ext cx="5525412" cy="26922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6D0E97-B946-D7E5-4A4B-4E2923C08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183" y="2874367"/>
            <a:ext cx="5410679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914B23-951B-ED53-A142-A14529FB4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183" y="4703167"/>
            <a:ext cx="5410679" cy="215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6601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3293</TotalTime>
  <Words>5022</Words>
  <Application>Microsoft Office PowerPoint</Application>
  <PresentationFormat>Widescreen</PresentationFormat>
  <Paragraphs>418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Abadi ExtraLight</vt:lpstr>
      <vt:lpstr>Aptos Black</vt:lpstr>
      <vt:lpstr>Arial</vt:lpstr>
      <vt:lpstr>Neue Haas Grotesk Text Pro</vt:lpstr>
      <vt:lpstr>VanillaVTI</vt:lpstr>
      <vt:lpstr>“Logistics Optimization for Delivery Routes – FedEx”</vt:lpstr>
      <vt:lpstr>Project Objective &amp; Scope</vt:lpstr>
      <vt:lpstr>Data &amp; Schema Overview Video Link: https://reccloud.com/u/ylzwasb </vt:lpstr>
      <vt:lpstr> Task 1: Data Cleaning &amp; Preparation</vt:lpstr>
      <vt:lpstr> Task 1: Data Cleaning &amp; Preparation</vt:lpstr>
      <vt:lpstr> Task 1: Data Cleaning &amp; Preparation</vt:lpstr>
      <vt:lpstr>Task 1: Data Cleaning &amp; Preparation</vt:lpstr>
      <vt:lpstr> Task 1: Data Cleaning &amp; Preparation</vt:lpstr>
      <vt:lpstr> Task 2: Delivery Delay Analysis</vt:lpstr>
      <vt:lpstr> Task 2: Delivery Delay Analysis</vt:lpstr>
      <vt:lpstr> Task 3: Route Optimization Insights</vt:lpstr>
      <vt:lpstr> Task 3: Route Optimization Insights</vt:lpstr>
      <vt:lpstr> Task 3: Route Optimization Insights</vt:lpstr>
      <vt:lpstr> Task 3: Route Optimization Insights</vt:lpstr>
      <vt:lpstr> Task 3: Route Optimization Insights</vt:lpstr>
      <vt:lpstr> Task 3: Route Optimization Insights</vt:lpstr>
      <vt:lpstr> Task 4: Warehouse Performance</vt:lpstr>
      <vt:lpstr> Task 4: Warehouse Performance</vt:lpstr>
      <vt:lpstr> Task 4: Warehouse Performance</vt:lpstr>
      <vt:lpstr> Task 5: Delivery Agent Performance</vt:lpstr>
      <vt:lpstr> Task 5: Delivery Agent Performance</vt:lpstr>
      <vt:lpstr> Task 5: Delivery Agent Performance</vt:lpstr>
      <vt:lpstr> Task 5: Delivery Agent Performance</vt:lpstr>
      <vt:lpstr> Task 5: Delivery Agent Performance</vt:lpstr>
      <vt:lpstr> Task 5: Delivery Agent Performance</vt:lpstr>
      <vt:lpstr> Task 6: Shipment Tracking Analytics</vt:lpstr>
      <vt:lpstr> Task 6: Shipment Tracking Analytics</vt:lpstr>
      <vt:lpstr> Task 6: Shipment Tracking Analytics</vt:lpstr>
      <vt:lpstr> Task 7: Advanced KPI Reporting</vt:lpstr>
      <vt:lpstr> Task 7: Advanced KPI Reporting</vt:lpstr>
      <vt:lpstr> Task 7: Advanced KPI Reporting</vt:lpstr>
      <vt:lpstr> Final Summary: key insights and Business Recommendations</vt:lpstr>
      <vt:lpstr>Final Summary: key insights and Business Recommendations</vt:lpstr>
      <vt:lpstr>Final Summary: key insights and 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Saumya Jain</dc:creator>
  <cp:lastModifiedBy>Saumya Jain</cp:lastModifiedBy>
  <cp:revision>42</cp:revision>
  <dcterms:created xsi:type="dcterms:W3CDTF">2025-12-04T06:35:07Z</dcterms:created>
  <dcterms:modified xsi:type="dcterms:W3CDTF">2025-12-06T13:28:26Z</dcterms:modified>
</cp:coreProperties>
</file>